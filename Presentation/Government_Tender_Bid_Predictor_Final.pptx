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overnmenttenderbidpredictor.streamlit.app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91F335C-3408-4A49-A5FE-D765C1196CC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7A64DBC-4EDD-4415-990F-E356758481B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880360" cy="6858000"/>
          </a:xfrm>
          <a:prstGeom prst="rect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44E8D2E-D642-446A-8F07-EA1195763D73}"/>
              </a:ext>
            </a:extLst>
          </p:cNvPr>
          <p:cNvSpPr>
            <a:spLocks noGrp="1"/>
          </p:cNvSpPr>
          <p:nvPr/>
        </p:nvSpPr>
        <p:spPr>
          <a:xfrm>
            <a:off x="3383280" y="1188720"/>
            <a:ext cx="6675120" cy="160020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2500" lnSpcReduction="20000"/>
          </a:bodyPr>
          <a:lstStyle/>
          <a:p>
            <a:pPr marL="0" indent="0">
              <a:buNone/>
            </a:pPr>
            <a:r>
              <a:rPr sz="4200" b="1">
                <a:solidFill>
                  <a:srgbClr val="12263A"/>
                </a:solidFill>
                <a:latin typeface="Aptos Display"/>
                <a:ea typeface="Aptos Display"/>
                <a:cs typeface="Aptos Display"/>
              </a:rPr>
              <a:t>Government</a:t>
            </a:r>
            <a:endParaRPr sz="4200"/>
          </a:p>
          <a:p>
            <a:pPr marL="0" indent="0">
              <a:buNone/>
            </a:pPr>
            <a:r>
              <a:rPr sz="4200" b="1">
                <a:solidFill>
                  <a:srgbClr val="12263A"/>
                </a:solidFill>
                <a:latin typeface="Aptos Display"/>
                <a:ea typeface="Aptos Display"/>
                <a:cs typeface="Aptos Display"/>
              </a:rPr>
              <a:t>Tender Bid</a:t>
            </a:r>
            <a:endParaRPr sz="4200"/>
          </a:p>
          <a:p>
            <a:pPr marL="0" indent="0">
              <a:buNone/>
            </a:pPr>
            <a:r>
              <a:rPr sz="4200" b="1">
                <a:solidFill>
                  <a:srgbClr val="12263A"/>
                </a:solidFill>
                <a:latin typeface="Aptos Display"/>
                <a:ea typeface="Aptos Display"/>
                <a:cs typeface="Aptos Display"/>
              </a:rPr>
              <a:t>Predictor</a:t>
            </a:r>
            <a:endParaRPr sz="4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34647C0-591A-4C89-B403-AFF7E4ABB03A}"/>
              </a:ext>
            </a:extLst>
          </p:cNvPr>
          <p:cNvSpPr>
            <a:spLocks noGrp="1"/>
          </p:cNvSpPr>
          <p:nvPr/>
        </p:nvSpPr>
        <p:spPr>
          <a:xfrm>
            <a:off x="3429000" y="2971800"/>
            <a:ext cx="713232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000">
                <a:solidFill>
                  <a:srgbClr val="1F5E8C"/>
                </a:solidFill>
              </a:rPr>
              <a:t>Predicting a competitive winning-bid range before prices are visible</a:t>
            </a:r>
            <a:endParaRPr sz="20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4365215-EB65-4381-9D6B-AE01C722ECAE}"/>
              </a:ext>
            </a:extLst>
          </p:cNvPr>
          <p:cNvSpPr>
            <a:spLocks noGrp="1"/>
          </p:cNvSpPr>
          <p:nvPr/>
        </p:nvSpPr>
        <p:spPr>
          <a:xfrm>
            <a:off x="3456432" y="5257800"/>
            <a:ext cx="530352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50">
                <a:solidFill>
                  <a:srgbClr val="5F6B73"/>
                </a:solidFill>
              </a:rPr>
              <a:t>Ahmed Jawad</a:t>
            </a:r>
            <a:endParaRPr sz="145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611F536-252A-448E-AB1F-65996E16171B}"/>
              </a:ext>
            </a:extLst>
          </p:cNvPr>
          <p:cNvSpPr>
            <a:spLocks noGrp="1"/>
          </p:cNvSpPr>
          <p:nvPr/>
        </p:nvSpPr>
        <p:spPr>
          <a:xfrm>
            <a:off x="3429000" y="3794760"/>
            <a:ext cx="4480560" cy="0"/>
          </a:xfrm>
          <a:prstGeom prst="line">
            <a:avLst/>
          </a:prstGeom>
          <a:noFill/>
          <a:ln w="50800">
            <a:solidFill>
              <a:srgbClr val="D982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F97386D-351E-405A-B033-920D3CE36946}"/>
              </a:ext>
            </a:extLst>
          </p:cNvPr>
          <p:cNvSpPr>
            <a:spLocks noGrp="1"/>
          </p:cNvSpPr>
          <p:nvPr/>
        </p:nvSpPr>
        <p:spPr>
          <a:xfrm>
            <a:off x="475488" y="5870448"/>
            <a:ext cx="187452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18839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0">
            <a:extLst>
              <a:ext uri="{FF2B5EF4-FFF2-40B4-BE49-F238E27FC236}">
                <a16:creationId xmlns:a16="http://schemas.microsoft.com/office/drawing/2014/main" id="{8C7DB263-E32B-4424-82D5-A1DBFCB155A8}"/>
              </a:ext>
            </a:extLst>
          </p:cNvPr>
          <p:cNvSpPr>
            <a:spLocks noGrp="1"/>
          </p:cNvSpPr>
          <p:nvPr/>
        </p:nvSpPr>
        <p:spPr>
          <a:xfrm>
            <a:off x="987552" y="1874520"/>
            <a:ext cx="0" cy="3291840"/>
          </a:xfrm>
          <a:prstGeom prst="line">
            <a:avLst/>
          </a:prstGeom>
          <a:noFill/>
          <a:ln w="19050">
            <a:solidFill>
              <a:srgbClr val="D9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3FC1750-2713-4F92-8F3D-BF4F8EE81CD4}"/>
              </a:ext>
            </a:extLst>
          </p:cNvPr>
          <p:cNvSpPr>
            <a:spLocks noGrp="1"/>
          </p:cNvSpPr>
          <p:nvPr/>
        </p:nvSpPr>
        <p:spPr>
          <a:xfrm>
            <a:off x="621792" y="530352"/>
            <a:ext cx="777240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400" b="1">
                <a:solidFill>
                  <a:srgbClr val="12263A"/>
                </a:solidFill>
                <a:latin typeface="Aptos Display"/>
                <a:ea typeface="Aptos Display"/>
                <a:cs typeface="Aptos Display"/>
              </a:rPr>
              <a:t>Agenda</a:t>
            </a:r>
            <a:endParaRPr sz="24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E71C02D-BA52-4FD4-8793-F78FF77622C1}"/>
              </a:ext>
            </a:extLst>
          </p:cNvPr>
          <p:cNvSpPr>
            <a:spLocks noGrp="1"/>
          </p:cNvSpPr>
          <p:nvPr/>
        </p:nvSpPr>
        <p:spPr>
          <a:xfrm>
            <a:off x="621792" y="1024128"/>
            <a:ext cx="10927080" cy="0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D99333F-B38F-4A53-80DB-510A28050CEB}"/>
              </a:ext>
            </a:extLst>
          </p:cNvPr>
          <p:cNvSpPr>
            <a:spLocks noGrp="1"/>
          </p:cNvSpPr>
          <p:nvPr/>
        </p:nvSpPr>
        <p:spPr>
          <a:xfrm>
            <a:off x="11201400" y="384048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5F6B73"/>
                </a:solidFill>
              </a:rPr>
              <a:t>02</a:t>
            </a:r>
            <a:endParaRPr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766EE7B-D2B0-4393-BA78-7161466E653C}"/>
              </a:ext>
            </a:extLst>
          </p:cNvPr>
          <p:cNvSpPr>
            <a:spLocks noGrp="1"/>
          </p:cNvSpPr>
          <p:nvPr/>
        </p:nvSpPr>
        <p:spPr>
          <a:xfrm>
            <a:off x="777240" y="1481328"/>
            <a:ext cx="420624" cy="420624"/>
          </a:xfrm>
          <a:prstGeom prst="rect">
            <a:avLst/>
          </a:prstGeom>
          <a:solidFill>
            <a:srgbClr val="1F5E8C"/>
          </a:solidFill>
          <a:ln>
            <a:solidFill>
              <a:srgbClr val="1F5E8C"/>
            </a:solidFill>
          </a:ln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FFFFFF"/>
                </a:solidFill>
              </a:rPr>
              <a:t>1</a:t>
            </a:r>
            <a:endParaRPr sz="15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E90BEE8-8886-46C0-AFC5-47DDDE42BF62}"/>
              </a:ext>
            </a:extLst>
          </p:cNvPr>
          <p:cNvSpPr>
            <a:spLocks noGrp="1"/>
          </p:cNvSpPr>
          <p:nvPr/>
        </p:nvSpPr>
        <p:spPr>
          <a:xfrm>
            <a:off x="1417320" y="1463040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800" b="1">
                <a:solidFill>
                  <a:srgbClr val="12263A"/>
                </a:solidFill>
              </a:rPr>
              <a:t>Business problem</a:t>
            </a:r>
            <a:endParaRPr sz="18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7D021E3-0D0F-4722-8664-58AB80F9A79A}"/>
              </a:ext>
            </a:extLst>
          </p:cNvPr>
          <p:cNvSpPr>
            <a:spLocks noGrp="1"/>
          </p:cNvSpPr>
          <p:nvPr/>
        </p:nvSpPr>
        <p:spPr>
          <a:xfrm>
            <a:off x="1417320" y="1773936"/>
            <a:ext cx="53492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500"/>
            </a:pPr>
            <a:r>
              <a:rPr sz="1500">
                <a:solidFill>
                  <a:srgbClr val="5F6B73"/>
                </a:solidFill>
              </a:rPr>
              <a:t>Why bidding price matters</a:t>
            </a:r>
            <a:endParaRPr sz="135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5B84A60-4FEF-4B1A-BF95-42FB9B7FA239}"/>
              </a:ext>
            </a:extLst>
          </p:cNvPr>
          <p:cNvSpPr>
            <a:spLocks noGrp="1"/>
          </p:cNvSpPr>
          <p:nvPr/>
        </p:nvSpPr>
        <p:spPr>
          <a:xfrm>
            <a:off x="777240" y="2286000"/>
            <a:ext cx="420624" cy="420624"/>
          </a:xfrm>
          <a:prstGeom prst="rect">
            <a:avLst/>
          </a:prstGeom>
          <a:solidFill>
            <a:srgbClr val="1F5E8C"/>
          </a:solidFill>
          <a:ln>
            <a:solidFill>
              <a:srgbClr val="1F5E8C"/>
            </a:solidFill>
          </a:ln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FFFFFF"/>
                </a:solidFill>
              </a:rPr>
              <a:t>2</a:t>
            </a:r>
            <a:endParaRPr sz="15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37A8F57-02C0-4B83-AD9F-1B1FCFF5B345}"/>
              </a:ext>
            </a:extLst>
          </p:cNvPr>
          <p:cNvSpPr>
            <a:spLocks noGrp="1"/>
          </p:cNvSpPr>
          <p:nvPr/>
        </p:nvSpPr>
        <p:spPr>
          <a:xfrm>
            <a:off x="1417320" y="2267712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800" b="1">
                <a:solidFill>
                  <a:srgbClr val="12263A"/>
                </a:solidFill>
              </a:rPr>
              <a:t>Data &amp; approach</a:t>
            </a:r>
            <a:endParaRPr sz="18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3FA4562-1931-4D4A-88CB-58202B1E87B0}"/>
              </a:ext>
            </a:extLst>
          </p:cNvPr>
          <p:cNvSpPr>
            <a:spLocks noGrp="1"/>
          </p:cNvSpPr>
          <p:nvPr/>
        </p:nvSpPr>
        <p:spPr>
          <a:xfrm>
            <a:off x="1417320" y="2578608"/>
            <a:ext cx="53492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500"/>
            </a:pPr>
            <a:r>
              <a:rPr sz="1500">
                <a:solidFill>
                  <a:srgbClr val="5F6B73"/>
                </a:solidFill>
              </a:rPr>
              <a:t>What information is available before bidding</a:t>
            </a:r>
            <a:endParaRPr sz="135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8087AAA-E13C-48FF-9BE7-E98B1D1A9D10}"/>
              </a:ext>
            </a:extLst>
          </p:cNvPr>
          <p:cNvSpPr>
            <a:spLocks noGrp="1"/>
          </p:cNvSpPr>
          <p:nvPr/>
        </p:nvSpPr>
        <p:spPr>
          <a:xfrm>
            <a:off x="777240" y="3090672"/>
            <a:ext cx="420624" cy="420624"/>
          </a:xfrm>
          <a:prstGeom prst="rect">
            <a:avLst/>
          </a:prstGeom>
          <a:solidFill>
            <a:srgbClr val="1F5E8C"/>
          </a:solidFill>
          <a:ln>
            <a:solidFill>
              <a:srgbClr val="1F5E8C"/>
            </a:solidFill>
          </a:ln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FFFFFF"/>
                </a:solidFill>
              </a:rPr>
              <a:t>3</a:t>
            </a:r>
            <a:endParaRPr sz="15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2E68C4E-DC3F-4359-B58C-B0EFA46D8ED1}"/>
              </a:ext>
            </a:extLst>
          </p:cNvPr>
          <p:cNvSpPr>
            <a:spLocks noGrp="1"/>
          </p:cNvSpPr>
          <p:nvPr/>
        </p:nvSpPr>
        <p:spPr>
          <a:xfrm>
            <a:off x="1417320" y="3072384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800" b="1">
                <a:solidFill>
                  <a:srgbClr val="12263A"/>
                </a:solidFill>
              </a:rPr>
              <a:t>Model</a:t>
            </a:r>
            <a:endParaRPr sz="18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A01499E-02B4-4187-A7B5-53157C3B92AA}"/>
              </a:ext>
            </a:extLst>
          </p:cNvPr>
          <p:cNvSpPr>
            <a:spLocks noGrp="1"/>
          </p:cNvSpPr>
          <p:nvPr/>
        </p:nvSpPr>
        <p:spPr>
          <a:xfrm>
            <a:off x="1417320" y="3383280"/>
            <a:ext cx="53492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500"/>
            </a:pPr>
            <a:r>
              <a:rPr sz="1500">
                <a:solidFill>
                  <a:srgbClr val="5F6B73"/>
                </a:solidFill>
              </a:rPr>
              <a:t>A simple view of how prediction works</a:t>
            </a:r>
            <a:endParaRPr sz="135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1955DDC-038A-4CB4-88EE-6A47DFF50948}"/>
              </a:ext>
            </a:extLst>
          </p:cNvPr>
          <p:cNvSpPr>
            <a:spLocks noGrp="1"/>
          </p:cNvSpPr>
          <p:nvPr/>
        </p:nvSpPr>
        <p:spPr>
          <a:xfrm>
            <a:off x="777240" y="3895344"/>
            <a:ext cx="420624" cy="420624"/>
          </a:xfrm>
          <a:prstGeom prst="rect">
            <a:avLst/>
          </a:prstGeom>
          <a:solidFill>
            <a:srgbClr val="1F5E8C"/>
          </a:solidFill>
          <a:ln>
            <a:solidFill>
              <a:srgbClr val="1F5E8C"/>
            </a:solidFill>
          </a:ln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FFFFFF"/>
                </a:solidFill>
              </a:rPr>
              <a:t>4</a:t>
            </a:r>
            <a:endParaRPr sz="15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E17CBB4F-30E5-4C1F-810C-BBF3D1FD4B76}"/>
              </a:ext>
            </a:extLst>
          </p:cNvPr>
          <p:cNvSpPr>
            <a:spLocks noGrp="1"/>
          </p:cNvSpPr>
          <p:nvPr/>
        </p:nvSpPr>
        <p:spPr>
          <a:xfrm>
            <a:off x="1417320" y="3877056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800" b="1">
                <a:solidFill>
                  <a:srgbClr val="12263A"/>
                </a:solidFill>
              </a:rPr>
              <a:t>Results</a:t>
            </a:r>
            <a:endParaRPr sz="18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1A2BE9EA-746C-4BD5-A324-28FB0DBA819D}"/>
              </a:ext>
            </a:extLst>
          </p:cNvPr>
          <p:cNvSpPr>
            <a:spLocks noGrp="1"/>
          </p:cNvSpPr>
          <p:nvPr/>
        </p:nvSpPr>
        <p:spPr>
          <a:xfrm>
            <a:off x="1417320" y="4187952"/>
            <a:ext cx="53492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500"/>
            </a:pPr>
            <a:r>
              <a:rPr sz="1500">
                <a:solidFill>
                  <a:srgbClr val="5F6B73"/>
                </a:solidFill>
              </a:rPr>
              <a:t>Final results on unseen 2025 tenders</a:t>
            </a:r>
            <a:endParaRPr sz="135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C59317F1-F786-4B5B-A243-B82613EC386C}"/>
              </a:ext>
            </a:extLst>
          </p:cNvPr>
          <p:cNvSpPr>
            <a:spLocks noGrp="1"/>
          </p:cNvSpPr>
          <p:nvPr/>
        </p:nvSpPr>
        <p:spPr>
          <a:xfrm>
            <a:off x="777240" y="4700016"/>
            <a:ext cx="420624" cy="420624"/>
          </a:xfrm>
          <a:prstGeom prst="rect">
            <a:avLst/>
          </a:prstGeom>
          <a:solidFill>
            <a:srgbClr val="1F5E8C"/>
          </a:solidFill>
          <a:ln>
            <a:solidFill>
              <a:srgbClr val="1F5E8C"/>
            </a:solidFill>
          </a:ln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FFFFFF"/>
                </a:solidFill>
              </a:rPr>
              <a:t>5</a:t>
            </a:r>
            <a:endParaRPr sz="15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F6241DE3-8434-47AF-B147-83701D29AD40}"/>
              </a:ext>
            </a:extLst>
          </p:cNvPr>
          <p:cNvSpPr>
            <a:spLocks noGrp="1"/>
          </p:cNvSpPr>
          <p:nvPr/>
        </p:nvSpPr>
        <p:spPr>
          <a:xfrm>
            <a:off x="1417320" y="4681728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800" b="1">
                <a:solidFill>
                  <a:srgbClr val="12263A"/>
                </a:solidFill>
              </a:rPr>
              <a:t>App &amp; conclusion</a:t>
            </a:r>
            <a:endParaRPr sz="180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B1B278C6-0537-415A-912A-31D1BAB5B3B3}"/>
              </a:ext>
            </a:extLst>
          </p:cNvPr>
          <p:cNvSpPr>
            <a:spLocks noGrp="1"/>
          </p:cNvSpPr>
          <p:nvPr/>
        </p:nvSpPr>
        <p:spPr>
          <a:xfrm>
            <a:off x="1417320" y="4992624"/>
            <a:ext cx="53492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500"/>
            </a:pPr>
            <a:r>
              <a:rPr sz="1500">
                <a:solidFill>
                  <a:srgbClr val="5F6B73"/>
                </a:solidFill>
              </a:rPr>
              <a:t>Prediction, competitive range and similar tenders</a:t>
            </a:r>
            <a:endParaRPr sz="135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52B45B35-E178-4C04-8F66-D6AAE7FDF190}"/>
              </a:ext>
            </a:extLst>
          </p:cNvPr>
          <p:cNvSpPr>
            <a:spLocks noGrp="1"/>
          </p:cNvSpPr>
          <p:nvPr/>
        </p:nvSpPr>
        <p:spPr>
          <a:xfrm>
            <a:off x="7406639" y="1588667"/>
            <a:ext cx="3713937" cy="1822045"/>
          </a:xfrm>
          <a:prstGeom prst="rect">
            <a:avLst/>
          </a:prstGeom>
          <a:solidFill>
            <a:srgbClr val="12263A"/>
          </a:solidFill>
        </p:spPr>
        <p:txBody>
          <a:bodyPr wrap="square" lIns="2794" tIns="2794" rIns="2794" bIns="2794" anchor="ctr">
            <a:normAutofit/>
          </a:bodyPr>
          <a:lstStyle/>
          <a:p>
            <a:pPr marL="0" indent="0" algn="ctr">
              <a:buNone/>
            </a:pPr>
            <a:r>
              <a:rPr sz="2200" b="1">
                <a:solidFill>
                  <a:srgbClr val="FFFFFF"/>
                </a:solidFill>
              </a:rPr>
              <a:t>The goal is not to replace commercial judgment.</a:t>
            </a:r>
            <a:endParaRPr sz="2200"/>
          </a:p>
          <a:p>
            <a:pPr marL="0" indent="0" algn="ctr">
              <a:buNone/>
            </a:pPr>
            <a:r>
              <a:rPr sz="2200" b="1">
                <a:solidFill>
                  <a:srgbClr val="FFFFFF"/>
                </a:solidFill>
              </a:rPr>
              <a:t>The goal is to give bidders a better starting benchmark.</a:t>
            </a:r>
            <a:endParaRPr sz="2200"/>
          </a:p>
        </p:txBody>
      </p:sp>
    </p:spTree>
    <p:extLst>
      <p:ext uri="{BB962C8B-B14F-4D97-AF65-F5344CB8AC3E}">
        <p14:creationId xmlns:p14="http://schemas.microsoft.com/office/powerpoint/2010/main" val="1414656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846826B-6CA4-4A8D-9C5D-15BCE19C06D2}"/>
              </a:ext>
            </a:extLst>
          </p:cNvPr>
          <p:cNvSpPr>
            <a:spLocks noGrp="1"/>
          </p:cNvSpPr>
          <p:nvPr/>
        </p:nvSpPr>
        <p:spPr>
          <a:xfrm>
            <a:off x="658368" y="310896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 b="1">
                <a:solidFill>
                  <a:srgbClr val="D9822B"/>
                </a:solidFill>
                <a:latin typeface="Aptos"/>
                <a:ea typeface="Aptos"/>
                <a:cs typeface="Aptos"/>
              </a:rPr>
              <a:t>BUSINESS PROBLEM &amp; IMPACT</a:t>
            </a:r>
            <a:endParaRPr sz="85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4BD3953-698D-49A4-AF54-8873D21A3502}"/>
              </a:ext>
            </a:extLst>
          </p:cNvPr>
          <p:cNvSpPr>
            <a:spLocks noGrp="1"/>
          </p:cNvSpPr>
          <p:nvPr/>
        </p:nvSpPr>
        <p:spPr>
          <a:xfrm>
            <a:off x="621792" y="530352"/>
            <a:ext cx="777240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400" b="1">
                <a:solidFill>
                  <a:srgbClr val="12263A"/>
                </a:solidFill>
                <a:latin typeface="Aptos Display"/>
                <a:ea typeface="Aptos Display"/>
                <a:cs typeface="Aptos Display"/>
              </a:rPr>
              <a:t>The pricing problem is a narrow target</a:t>
            </a:r>
            <a:endParaRPr sz="24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48481F0-921F-46CB-9DD9-29FC265E1E58}"/>
              </a:ext>
            </a:extLst>
          </p:cNvPr>
          <p:cNvSpPr>
            <a:spLocks noGrp="1"/>
          </p:cNvSpPr>
          <p:nvPr/>
        </p:nvSpPr>
        <p:spPr>
          <a:xfrm>
            <a:off x="621792" y="1024128"/>
            <a:ext cx="10927080" cy="0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C399B7E-6911-4DF5-9154-67294DCE01A5}"/>
              </a:ext>
            </a:extLst>
          </p:cNvPr>
          <p:cNvSpPr>
            <a:spLocks noGrp="1"/>
          </p:cNvSpPr>
          <p:nvPr/>
        </p:nvSpPr>
        <p:spPr>
          <a:xfrm>
            <a:off x="11201400" y="384048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5F6B73"/>
                </a:solidFill>
              </a:rPr>
              <a:t>03</a:t>
            </a:r>
            <a:endParaRPr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F197368-2F46-499A-8C95-F3E9F056E5AC}"/>
              </a:ext>
            </a:extLst>
          </p:cNvPr>
          <p:cNvSpPr>
            <a:spLocks noGrp="1"/>
          </p:cNvSpPr>
          <p:nvPr/>
        </p:nvSpPr>
        <p:spPr>
          <a:xfrm>
            <a:off x="777240" y="160020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300" b="1">
                <a:solidFill>
                  <a:srgbClr val="B8463A"/>
                </a:solidFill>
              </a:rPr>
              <a:t>Bid too low</a:t>
            </a:r>
            <a:endParaRPr sz="23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1309146-CAEA-4A45-A917-3C399EF5A909}"/>
              </a:ext>
            </a:extLst>
          </p:cNvPr>
          <p:cNvSpPr>
            <a:spLocks noGrp="1"/>
          </p:cNvSpPr>
          <p:nvPr/>
        </p:nvSpPr>
        <p:spPr>
          <a:xfrm>
            <a:off x="804672" y="2011680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50">
                <a:solidFill>
                  <a:srgbClr val="5F6B73"/>
                </a:solidFill>
              </a:rPr>
              <a:t>Win the contract but risk losing profit.</a:t>
            </a:r>
            <a:endParaRPr sz="155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1C8F5FB-E53D-42CB-8569-6A5FFD6D0AB7}"/>
              </a:ext>
            </a:extLst>
          </p:cNvPr>
          <p:cNvSpPr>
            <a:spLocks noGrp="1"/>
          </p:cNvSpPr>
          <p:nvPr/>
        </p:nvSpPr>
        <p:spPr>
          <a:xfrm>
            <a:off x="9144000" y="160020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300" b="1">
                <a:solidFill>
                  <a:srgbClr val="B8463A"/>
                </a:solidFill>
              </a:rPr>
              <a:t>Bid too high</a:t>
            </a:r>
            <a:endParaRPr sz="23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5D368D3-99C7-4072-B153-1722324C0C1C}"/>
              </a:ext>
            </a:extLst>
          </p:cNvPr>
          <p:cNvSpPr>
            <a:spLocks noGrp="1"/>
          </p:cNvSpPr>
          <p:nvPr/>
        </p:nvSpPr>
        <p:spPr>
          <a:xfrm>
            <a:off x="9162288" y="2011680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50">
                <a:solidFill>
                  <a:srgbClr val="5F6B73"/>
                </a:solidFill>
              </a:rPr>
              <a:t>Protect margin, but lose the opportunity.</a:t>
            </a:r>
            <a:endParaRPr sz="155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4CAA759B-13E7-45A7-91DF-494FF22F6D19}"/>
              </a:ext>
            </a:extLst>
          </p:cNvPr>
          <p:cNvSpPr>
            <a:spLocks noGrp="1"/>
          </p:cNvSpPr>
          <p:nvPr/>
        </p:nvSpPr>
        <p:spPr>
          <a:xfrm>
            <a:off x="1051560" y="3657600"/>
            <a:ext cx="10058400" cy="0"/>
          </a:xfrm>
          <a:prstGeom prst="line">
            <a:avLst/>
          </a:prstGeom>
          <a:noFill/>
          <a:ln w="76200">
            <a:solidFill>
              <a:srgbClr val="D9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1CDC9EFE-4727-4B64-91E4-2969176FE41E}"/>
              </a:ext>
            </a:extLst>
          </p:cNvPr>
          <p:cNvSpPr>
            <a:spLocks noGrp="1"/>
          </p:cNvSpPr>
          <p:nvPr/>
        </p:nvSpPr>
        <p:spPr>
          <a:xfrm>
            <a:off x="4462272" y="3657600"/>
            <a:ext cx="2926080" cy="0"/>
          </a:xfrm>
          <a:prstGeom prst="line">
            <a:avLst/>
          </a:prstGeom>
          <a:noFill/>
          <a:ln w="127000">
            <a:solidFill>
              <a:srgbClr val="1E7A7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4728B8E-12A4-486A-8A91-87427B397C8C}"/>
              </a:ext>
            </a:extLst>
          </p:cNvPr>
          <p:cNvSpPr>
            <a:spLocks noGrp="1"/>
          </p:cNvSpPr>
          <p:nvPr/>
        </p:nvSpPr>
        <p:spPr>
          <a:xfrm>
            <a:off x="4206240" y="3968496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>
                <a:solidFill>
                  <a:srgbClr val="1E7A78"/>
                </a:solidFill>
              </a:rPr>
              <a:t>Competitive region</a:t>
            </a:r>
            <a:endParaRPr sz="18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91E5147-595A-45E8-83CB-6902E28D7E60}"/>
              </a:ext>
            </a:extLst>
          </p:cNvPr>
          <p:cNvSpPr>
            <a:spLocks noGrp="1"/>
          </p:cNvSpPr>
          <p:nvPr/>
        </p:nvSpPr>
        <p:spPr>
          <a:xfrm>
            <a:off x="2011680" y="4800600"/>
            <a:ext cx="813816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300" b="1">
                <a:solidFill>
                  <a:srgbClr val="12263A"/>
                </a:solidFill>
              </a:rPr>
              <a:t>The model helps estimate this region from historical tenders with similar signals.</a:t>
            </a:r>
            <a:endParaRPr sz="2300"/>
          </a:p>
        </p:txBody>
      </p:sp>
    </p:spTree>
    <p:extLst>
      <p:ext uri="{BB962C8B-B14F-4D97-AF65-F5344CB8AC3E}">
        <p14:creationId xmlns:p14="http://schemas.microsoft.com/office/powerpoint/2010/main" val="608587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F6BD06F-2279-4B57-8AD9-7745F5B23065}"/>
              </a:ext>
            </a:extLst>
          </p:cNvPr>
          <p:cNvSpPr>
            <a:spLocks noGrp="1"/>
          </p:cNvSpPr>
          <p:nvPr/>
        </p:nvSpPr>
        <p:spPr>
          <a:xfrm>
            <a:off x="658368" y="310896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 b="1">
                <a:solidFill>
                  <a:srgbClr val="D9822B"/>
                </a:solidFill>
                <a:latin typeface="Aptos"/>
                <a:ea typeface="Aptos"/>
                <a:cs typeface="Aptos"/>
              </a:rPr>
              <a:t>IDEA INTRODUCTION</a:t>
            </a:r>
            <a:endParaRPr sz="85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CBB77A8-F60A-4AAE-BA9B-348B5CCB7272}"/>
              </a:ext>
            </a:extLst>
          </p:cNvPr>
          <p:cNvSpPr>
            <a:spLocks noGrp="1"/>
          </p:cNvSpPr>
          <p:nvPr/>
        </p:nvSpPr>
        <p:spPr>
          <a:xfrm>
            <a:off x="621792" y="530352"/>
            <a:ext cx="777240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400" b="1">
                <a:solidFill>
                  <a:srgbClr val="12263A"/>
                </a:solidFill>
                <a:latin typeface="Aptos Display"/>
                <a:ea typeface="Aptos Display"/>
                <a:cs typeface="Aptos Display"/>
              </a:rPr>
              <a:t>The idea: turn pre-bid details into a price benchmark</a:t>
            </a:r>
            <a:endParaRPr sz="24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BFA7BBA-899B-4E93-8661-B7F47F6A7018}"/>
              </a:ext>
            </a:extLst>
          </p:cNvPr>
          <p:cNvSpPr>
            <a:spLocks noGrp="1"/>
          </p:cNvSpPr>
          <p:nvPr/>
        </p:nvSpPr>
        <p:spPr>
          <a:xfrm>
            <a:off x="621792" y="1024128"/>
            <a:ext cx="10927080" cy="0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DBA5DC2-9ED7-4719-98AA-E6E39A7877F8}"/>
              </a:ext>
            </a:extLst>
          </p:cNvPr>
          <p:cNvSpPr>
            <a:spLocks noGrp="1"/>
          </p:cNvSpPr>
          <p:nvPr/>
        </p:nvSpPr>
        <p:spPr>
          <a:xfrm>
            <a:off x="11201400" y="384048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5F6B73"/>
                </a:solidFill>
              </a:rPr>
              <a:t>04</a:t>
            </a:r>
            <a:endParaRPr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4E33A53-AAA9-46AC-A633-F4A18D09D587}"/>
              </a:ext>
            </a:extLst>
          </p:cNvPr>
          <p:cNvSpPr>
            <a:spLocks noGrp="1"/>
          </p:cNvSpPr>
          <p:nvPr/>
        </p:nvSpPr>
        <p:spPr>
          <a:xfrm>
            <a:off x="822960" y="1920240"/>
            <a:ext cx="2377440" cy="914400"/>
          </a:xfrm>
          <a:prstGeom prst="rect">
            <a:avLst/>
          </a:prstGeom>
          <a:solidFill>
            <a:srgbClr val="EAF2F8"/>
          </a:solidFill>
          <a:ln w="12700">
            <a:solidFill>
              <a:srgbClr val="EAF2F8"/>
            </a:solidFill>
          </a:ln>
        </p:spPr>
        <p:txBody>
          <a:bodyPr wrap="square" lIns="1524" tIns="1524" rIns="1524" bIns="1524" anchor="ctr">
            <a:normAutofit/>
          </a:bodyPr>
          <a:lstStyle/>
          <a:p>
            <a:pPr marL="0" indent="0" algn="ctr">
              <a:buNone/>
            </a:pPr>
            <a:r>
              <a:rPr sz="1800" b="1">
                <a:solidFill>
                  <a:srgbClr val="202020"/>
                </a:solidFill>
                <a:latin typeface="Aptos"/>
                <a:ea typeface="Aptos"/>
                <a:cs typeface="Aptos"/>
              </a:rPr>
              <a:t>Tender notice</a:t>
            </a:r>
            <a:endParaRPr sz="1800"/>
          </a:p>
          <a:p>
            <a:pPr marL="0" indent="0" algn="ctr">
              <a:buNone/>
            </a:pPr>
            <a:r>
              <a:rPr sz="1800" b="1">
                <a:solidFill>
                  <a:srgbClr val="202020"/>
                </a:solidFill>
                <a:latin typeface="Aptos"/>
                <a:ea typeface="Aptos"/>
                <a:cs typeface="Aptos"/>
              </a:rPr>
              <a:t>Details known before bidding</a:t>
            </a:r>
            <a:endParaRPr sz="18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0DB5723-02CB-4F53-A4BE-3FDFAFA1F718}"/>
              </a:ext>
            </a:extLst>
          </p:cNvPr>
          <p:cNvSpPr>
            <a:spLocks noGrp="1"/>
          </p:cNvSpPr>
          <p:nvPr/>
        </p:nvSpPr>
        <p:spPr>
          <a:xfrm>
            <a:off x="3383280" y="2359152"/>
            <a:ext cx="1097280" cy="0"/>
          </a:xfrm>
          <a:prstGeom prst="line">
            <a:avLst/>
          </a:prstGeom>
          <a:noFill/>
          <a:ln w="26670">
            <a:solidFill>
              <a:srgbClr val="D9822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CFFE8C5-23BE-485D-A8CB-393045F1A281}"/>
              </a:ext>
            </a:extLst>
          </p:cNvPr>
          <p:cNvSpPr>
            <a:spLocks noGrp="1"/>
          </p:cNvSpPr>
          <p:nvPr/>
        </p:nvSpPr>
        <p:spPr>
          <a:xfrm>
            <a:off x="4617720" y="1920240"/>
            <a:ext cx="2423160" cy="914400"/>
          </a:xfrm>
          <a:prstGeom prst="rect">
            <a:avLst/>
          </a:prstGeom>
          <a:solidFill>
            <a:srgbClr val="E9F5EF"/>
          </a:solidFill>
          <a:ln w="12700">
            <a:solidFill>
              <a:srgbClr val="E9F5EF"/>
            </a:solidFill>
          </a:ln>
        </p:spPr>
        <p:txBody>
          <a:bodyPr wrap="square" lIns="1524" tIns="1524" rIns="1524" bIns="1524" anchor="ctr">
            <a:normAutofit/>
          </a:bodyPr>
          <a:lstStyle/>
          <a:p>
            <a:pPr marL="0" indent="0" algn="ctr">
              <a:buNone/>
            </a:pPr>
            <a:r>
              <a:rPr sz="1800" b="1">
                <a:solidFill>
                  <a:srgbClr val="202020"/>
                </a:solidFill>
                <a:latin typeface="Aptos"/>
                <a:ea typeface="Aptos"/>
                <a:cs typeface="Aptos"/>
              </a:rPr>
              <a:t>Prediction model</a:t>
            </a:r>
            <a:endParaRPr sz="1800"/>
          </a:p>
          <a:p>
            <a:pPr marL="0" indent="0" algn="ctr">
              <a:buNone/>
            </a:pPr>
            <a:r>
              <a:rPr sz="1800" b="1">
                <a:solidFill>
                  <a:srgbClr val="202020"/>
                </a:solidFill>
                <a:latin typeface="Aptos"/>
                <a:ea typeface="Aptos"/>
                <a:cs typeface="Aptos"/>
              </a:rPr>
              <a:t>Learns patterns from</a:t>
            </a:r>
            <a:endParaRPr sz="1800"/>
          </a:p>
          <a:p>
            <a:pPr marL="0" indent="0" algn="ctr">
              <a:buNone/>
            </a:pPr>
            <a:r>
              <a:rPr sz="1800" b="1">
                <a:solidFill>
                  <a:srgbClr val="202020"/>
                </a:solidFill>
                <a:latin typeface="Aptos"/>
                <a:ea typeface="Aptos"/>
                <a:cs typeface="Aptos"/>
              </a:rPr>
              <a:t>past awards</a:t>
            </a:r>
            <a:endParaRPr sz="180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41B2EF80-CEC2-49A6-96C1-E7AE397B295D}"/>
              </a:ext>
            </a:extLst>
          </p:cNvPr>
          <p:cNvSpPr>
            <a:spLocks noGrp="1"/>
          </p:cNvSpPr>
          <p:nvPr/>
        </p:nvSpPr>
        <p:spPr>
          <a:xfrm>
            <a:off x="7242048" y="2359152"/>
            <a:ext cx="1097280" cy="0"/>
          </a:xfrm>
          <a:prstGeom prst="line">
            <a:avLst/>
          </a:prstGeom>
          <a:noFill/>
          <a:ln w="26670">
            <a:solidFill>
              <a:srgbClr val="D9822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4F9FCB5-3C6D-4232-B3A4-AAF7819E3936}"/>
              </a:ext>
            </a:extLst>
          </p:cNvPr>
          <p:cNvSpPr>
            <a:spLocks noGrp="1"/>
          </p:cNvSpPr>
          <p:nvPr/>
        </p:nvSpPr>
        <p:spPr>
          <a:xfrm>
            <a:off x="8485632" y="1920240"/>
            <a:ext cx="2423160" cy="914400"/>
          </a:xfrm>
          <a:prstGeom prst="rect">
            <a:avLst/>
          </a:prstGeom>
          <a:solidFill>
            <a:srgbClr val="FFF2DF"/>
          </a:solidFill>
          <a:ln w="12700">
            <a:solidFill>
              <a:srgbClr val="FFF2DF"/>
            </a:solidFill>
          </a:ln>
        </p:spPr>
        <p:txBody>
          <a:bodyPr wrap="square" lIns="1524" tIns="1524" rIns="1524" bIns="1524" anchor="ctr">
            <a:normAutofit/>
          </a:bodyPr>
          <a:lstStyle/>
          <a:p>
            <a:pPr marL="0" indent="0" algn="ctr">
              <a:buNone/>
            </a:pPr>
            <a:r>
              <a:rPr sz="1800" b="1">
                <a:solidFill>
                  <a:srgbClr val="202020"/>
                </a:solidFill>
                <a:latin typeface="Aptos"/>
                <a:ea typeface="Aptos"/>
                <a:cs typeface="Aptos"/>
              </a:rPr>
              <a:t>Decision support</a:t>
            </a:r>
            <a:endParaRPr sz="1800"/>
          </a:p>
          <a:p>
            <a:pPr marL="0" indent="0" algn="ctr">
              <a:buNone/>
            </a:pPr>
            <a:r>
              <a:rPr sz="1800" b="1">
                <a:solidFill>
                  <a:srgbClr val="202020"/>
                </a:solidFill>
                <a:latin typeface="Aptos"/>
                <a:ea typeface="Aptos"/>
                <a:cs typeface="Aptos"/>
              </a:rPr>
              <a:t>Estimate, range and</a:t>
            </a:r>
            <a:endParaRPr sz="1800"/>
          </a:p>
          <a:p>
            <a:pPr marL="0" indent="0" algn="ctr">
              <a:buNone/>
            </a:pPr>
            <a:r>
              <a:rPr sz="1800" b="1">
                <a:solidFill>
                  <a:srgbClr val="202020"/>
                </a:solidFill>
                <a:latin typeface="Aptos"/>
                <a:ea typeface="Aptos"/>
                <a:cs typeface="Aptos"/>
              </a:rPr>
              <a:t>similar tenders</a:t>
            </a:r>
            <a:endParaRPr sz="18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FAEB185-4036-4791-A0F6-DB4C22EF584D}"/>
              </a:ext>
            </a:extLst>
          </p:cNvPr>
          <p:cNvSpPr>
            <a:spLocks noGrp="1"/>
          </p:cNvSpPr>
          <p:nvPr/>
        </p:nvSpPr>
        <p:spPr>
          <a:xfrm>
            <a:off x="1097280" y="4023360"/>
            <a:ext cx="969264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500" b="1">
                <a:solidFill>
                  <a:srgbClr val="12263A"/>
                </a:solidFill>
              </a:rPr>
              <a:t>This gives bidders a faster and more consistent starting point before submitting.</a:t>
            </a:r>
            <a:endParaRPr sz="25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58065FF-F4F6-4551-8E3C-48FC4344FAD2}"/>
              </a:ext>
            </a:extLst>
          </p:cNvPr>
          <p:cNvSpPr>
            <a:spLocks noGrp="1"/>
          </p:cNvSpPr>
          <p:nvPr/>
        </p:nvSpPr>
        <p:spPr>
          <a:xfrm>
            <a:off x="1920240" y="4828032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50">
                <a:solidFill>
                  <a:srgbClr val="5F6B73"/>
                </a:solidFill>
              </a:rPr>
              <a:t>Only information known before bidding is used. Competitor prices and final outcomes are excluded.</a:t>
            </a:r>
            <a:endParaRPr sz="1550"/>
          </a:p>
        </p:txBody>
      </p:sp>
    </p:spTree>
    <p:extLst>
      <p:ext uri="{BB962C8B-B14F-4D97-AF65-F5344CB8AC3E}">
        <p14:creationId xmlns:p14="http://schemas.microsoft.com/office/powerpoint/2010/main" val="1032706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0790282-C788-44C3-B01B-F44DAD1204BC}"/>
              </a:ext>
            </a:extLst>
          </p:cNvPr>
          <p:cNvSpPr>
            <a:spLocks noGrp="1"/>
          </p:cNvSpPr>
          <p:nvPr/>
        </p:nvSpPr>
        <p:spPr>
          <a:xfrm>
            <a:off x="658368" y="310896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 b="1">
                <a:solidFill>
                  <a:srgbClr val="D9822B"/>
                </a:solidFill>
                <a:latin typeface="Aptos"/>
                <a:ea typeface="Aptos"/>
                <a:cs typeface="Aptos"/>
              </a:rPr>
              <a:t>DATA &amp; SOURCES</a:t>
            </a:r>
            <a:endParaRPr sz="85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15D7C1D-038B-4503-BF29-237B5314FD6C}"/>
              </a:ext>
            </a:extLst>
          </p:cNvPr>
          <p:cNvSpPr>
            <a:spLocks noGrp="1"/>
          </p:cNvSpPr>
          <p:nvPr/>
        </p:nvSpPr>
        <p:spPr>
          <a:xfrm>
            <a:off x="621792" y="530352"/>
            <a:ext cx="777240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400" b="1" dirty="0">
                <a:solidFill>
                  <a:srgbClr val="12263A"/>
                </a:solidFill>
                <a:latin typeface="Aptos Display"/>
                <a:ea typeface="Aptos Display"/>
                <a:cs typeface="Aptos Display"/>
              </a:rPr>
              <a:t>Final dataset: model-ready tenders</a:t>
            </a:r>
            <a:endParaRPr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86326D8-177D-4933-BCF2-134834F7041C}"/>
              </a:ext>
            </a:extLst>
          </p:cNvPr>
          <p:cNvSpPr>
            <a:spLocks noGrp="1"/>
          </p:cNvSpPr>
          <p:nvPr/>
        </p:nvSpPr>
        <p:spPr>
          <a:xfrm>
            <a:off x="621792" y="1024128"/>
            <a:ext cx="10927080" cy="0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03F981B-EC08-4F20-B03D-FEB1B3FCF011}"/>
              </a:ext>
            </a:extLst>
          </p:cNvPr>
          <p:cNvSpPr>
            <a:spLocks noGrp="1"/>
          </p:cNvSpPr>
          <p:nvPr/>
        </p:nvSpPr>
        <p:spPr>
          <a:xfrm>
            <a:off x="11201400" y="384048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5F6B73"/>
                </a:solidFill>
              </a:rPr>
              <a:t>05</a:t>
            </a:r>
            <a:endParaRPr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4FD1F88-7BF3-4CBE-8FFD-C68F46A5CE38}"/>
              </a:ext>
            </a:extLst>
          </p:cNvPr>
          <p:cNvSpPr>
            <a:spLocks noGrp="1"/>
          </p:cNvSpPr>
          <p:nvPr/>
        </p:nvSpPr>
        <p:spPr>
          <a:xfrm>
            <a:off x="777240" y="1325880"/>
            <a:ext cx="2011680" cy="658368"/>
          </a:xfrm>
          <a:prstGeom prst="rect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  <a:defRPr sz="1500"/>
            </a:pPr>
            <a:r>
              <a:rPr sz="1500">
                <a:solidFill>
                  <a:srgbClr val="202020"/>
                </a:solidFill>
              </a:rPr>
              <a:t>20,131</a:t>
            </a:r>
            <a:endParaRPr sz="1200"/>
          </a:p>
          <a:p>
            <a:pPr marL="0" indent="0" algn="ctr">
              <a:buNone/>
              <a:defRPr sz="1500"/>
            </a:pPr>
            <a:r>
              <a:rPr sz="1500">
                <a:solidFill>
                  <a:srgbClr val="202020"/>
                </a:solidFill>
              </a:rPr>
              <a:t>extracted award rows</a:t>
            </a:r>
            <a:endParaRPr sz="12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8BCC336-6552-484A-89DD-2F217FC42D1B}"/>
              </a:ext>
            </a:extLst>
          </p:cNvPr>
          <p:cNvSpPr>
            <a:spLocks noGrp="1"/>
          </p:cNvSpPr>
          <p:nvPr/>
        </p:nvSpPr>
        <p:spPr>
          <a:xfrm>
            <a:off x="3063240" y="1325880"/>
            <a:ext cx="2011680" cy="658368"/>
          </a:xfrm>
          <a:prstGeom prst="rect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  <a:defRPr sz="1500"/>
            </a:pPr>
            <a:r>
              <a:rPr sz="1500">
                <a:solidFill>
                  <a:srgbClr val="202020"/>
                </a:solidFill>
              </a:rPr>
              <a:t>8,847</a:t>
            </a:r>
            <a:endParaRPr sz="1200"/>
          </a:p>
          <a:p>
            <a:pPr marL="0" indent="0" algn="ctr">
              <a:buNone/>
              <a:defRPr sz="1500"/>
            </a:pPr>
            <a:r>
              <a:rPr sz="1500">
                <a:solidFill>
                  <a:srgbClr val="202020"/>
                </a:solidFill>
              </a:rPr>
              <a:t>clean award rows</a:t>
            </a:r>
            <a:endParaRPr sz="12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B57BC37-6644-45E5-9519-652104697B59}"/>
              </a:ext>
            </a:extLst>
          </p:cNvPr>
          <p:cNvSpPr>
            <a:spLocks noGrp="1"/>
          </p:cNvSpPr>
          <p:nvPr/>
        </p:nvSpPr>
        <p:spPr>
          <a:xfrm>
            <a:off x="5349240" y="1325880"/>
            <a:ext cx="2011680" cy="658368"/>
          </a:xfrm>
          <a:prstGeom prst="rect">
            <a:avLst/>
          </a:prstGeom>
          <a:solidFill>
            <a:srgbClr val="E9F5EF"/>
          </a:solidFill>
          <a:ln>
            <a:solidFill>
              <a:srgbClr val="E9F5EF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  <a:defRPr sz="1500"/>
            </a:pPr>
            <a:r>
              <a:rPr sz="1500">
                <a:solidFill>
                  <a:srgbClr val="202020"/>
                </a:solidFill>
              </a:rPr>
              <a:t>1,899</a:t>
            </a:r>
            <a:endParaRPr sz="1200"/>
          </a:p>
          <a:p>
            <a:pPr marL="0" indent="0" algn="ctr">
              <a:buNone/>
              <a:defRPr sz="1500"/>
            </a:pPr>
            <a:r>
              <a:rPr sz="1500">
                <a:solidFill>
                  <a:srgbClr val="202020"/>
                </a:solidFill>
              </a:rPr>
              <a:t>clean enriched tenders</a:t>
            </a:r>
            <a:endParaRPr sz="12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CA8292E-4321-4DC2-B9F7-DE06AD5B4CFB}"/>
              </a:ext>
            </a:extLst>
          </p:cNvPr>
          <p:cNvSpPr>
            <a:spLocks noGrp="1"/>
          </p:cNvSpPr>
          <p:nvPr/>
        </p:nvSpPr>
        <p:spPr>
          <a:xfrm>
            <a:off x="7635240" y="1325880"/>
            <a:ext cx="2011680" cy="658368"/>
          </a:xfrm>
          <a:prstGeom prst="rect">
            <a:avLst/>
          </a:prstGeom>
          <a:solidFill>
            <a:srgbClr val="FFF2DF"/>
          </a:solidFill>
          <a:ln>
            <a:solidFill>
              <a:srgbClr val="FFF2DF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  <a:defRPr sz="1500"/>
            </a:pPr>
            <a:r>
              <a:rPr sz="1500">
                <a:solidFill>
                  <a:srgbClr val="202020"/>
                </a:solidFill>
              </a:rPr>
              <a:t>1,893</a:t>
            </a:r>
            <a:endParaRPr sz="1200"/>
          </a:p>
          <a:p>
            <a:pPr marL="0" indent="0" algn="ctr">
              <a:buNone/>
              <a:defRPr sz="1500"/>
            </a:pPr>
            <a:r>
              <a:rPr sz="1500">
                <a:solidFill>
                  <a:srgbClr val="202020"/>
                </a:solidFill>
              </a:rPr>
              <a:t>price-modeling rows</a:t>
            </a:r>
            <a:endParaRPr sz="12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E49F33A-DAF6-464E-9DE5-BFC6D04EDAC4}"/>
              </a:ext>
            </a:extLst>
          </p:cNvPr>
          <p:cNvSpPr>
            <a:spLocks noGrp="1"/>
          </p:cNvSpPr>
          <p:nvPr/>
        </p:nvSpPr>
        <p:spPr>
          <a:xfrm>
            <a:off x="960120" y="2880360"/>
            <a:ext cx="2514600" cy="822960"/>
          </a:xfrm>
          <a:prstGeom prst="rect">
            <a:avLst/>
          </a:prstGeom>
          <a:solidFill>
            <a:srgbClr val="F6F7F9"/>
          </a:solidFill>
          <a:ln w="12700">
            <a:solidFill>
              <a:srgbClr val="D9DEE3"/>
            </a:solidFill>
          </a:ln>
        </p:spPr>
        <p:txBody>
          <a:bodyPr wrap="square" lIns="1524" tIns="1524" rIns="1524" bIns="1524" anchor="ctr">
            <a:normAutofit/>
          </a:bodyPr>
          <a:lstStyle/>
          <a:p>
            <a:pPr marL="0" indent="0" algn="ctr">
              <a:buNone/>
            </a:pPr>
            <a:r>
              <a:rPr sz="1500" b="1">
                <a:solidFill>
                  <a:srgbClr val="202020"/>
                </a:solidFill>
                <a:latin typeface="Aptos"/>
                <a:ea typeface="Aptos"/>
                <a:cs typeface="Aptos"/>
              </a:rPr>
              <a:t>Award reports</a:t>
            </a:r>
            <a:endParaRPr sz="1500"/>
          </a:p>
          <a:p>
            <a:pPr marL="0" indent="0" algn="ctr">
              <a:buNone/>
            </a:pPr>
            <a:r>
              <a:rPr sz="1500" b="1">
                <a:solidFill>
                  <a:srgbClr val="202020"/>
                </a:solidFill>
                <a:latin typeface="Aptos"/>
                <a:ea typeface="Aptos"/>
                <a:cs typeface="Aptos"/>
              </a:rPr>
              <a:t>Reference, authority,</a:t>
            </a:r>
            <a:endParaRPr sz="1500"/>
          </a:p>
          <a:p>
            <a:pPr marL="0" indent="0" algn="ctr">
              <a:buNone/>
            </a:pPr>
            <a:r>
              <a:rPr sz="1500" b="1">
                <a:solidFill>
                  <a:srgbClr val="202020"/>
                </a:solidFill>
                <a:latin typeface="Aptos"/>
                <a:ea typeface="Aptos"/>
                <a:cs typeface="Aptos"/>
              </a:rPr>
              <a:t>subject and award</a:t>
            </a:r>
            <a:endParaRPr sz="15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B44EB304-17BC-4B5E-853E-EEAE9EDF049C}"/>
              </a:ext>
            </a:extLst>
          </p:cNvPr>
          <p:cNvSpPr>
            <a:spLocks noGrp="1"/>
          </p:cNvSpPr>
          <p:nvPr/>
        </p:nvSpPr>
        <p:spPr>
          <a:xfrm>
            <a:off x="3611880" y="3291840"/>
            <a:ext cx="960120" cy="0"/>
          </a:xfrm>
          <a:prstGeom prst="line">
            <a:avLst/>
          </a:prstGeom>
          <a:noFill/>
          <a:ln w="26670">
            <a:solidFill>
              <a:srgbClr val="D9822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FF67BA0-9C5F-4D22-A2C0-80CE0C7592D3}"/>
              </a:ext>
            </a:extLst>
          </p:cNvPr>
          <p:cNvSpPr>
            <a:spLocks noGrp="1"/>
          </p:cNvSpPr>
          <p:nvPr/>
        </p:nvSpPr>
        <p:spPr>
          <a:xfrm>
            <a:off x="4709160" y="2880360"/>
            <a:ext cx="2514600" cy="822960"/>
          </a:xfrm>
          <a:prstGeom prst="rect">
            <a:avLst/>
          </a:prstGeom>
          <a:solidFill>
            <a:srgbClr val="F6F7F9"/>
          </a:solidFill>
          <a:ln w="12700">
            <a:solidFill>
              <a:srgbClr val="D9DEE3"/>
            </a:solidFill>
          </a:ln>
        </p:spPr>
        <p:txBody>
          <a:bodyPr wrap="square" lIns="1524" tIns="1524" rIns="1524" bIns="1524" anchor="ctr">
            <a:normAutofit/>
          </a:bodyPr>
          <a:lstStyle/>
          <a:p>
            <a:pPr marL="0" indent="0" algn="ctr">
              <a:buNone/>
            </a:pPr>
            <a:r>
              <a:rPr sz="1500" b="1">
                <a:solidFill>
                  <a:srgbClr val="202020"/>
                </a:solidFill>
                <a:latin typeface="Aptos"/>
                <a:ea typeface="Aptos"/>
                <a:cs typeface="Aptos"/>
              </a:rPr>
              <a:t>Reference matching</a:t>
            </a:r>
            <a:endParaRPr sz="1500"/>
          </a:p>
          <a:p>
            <a:pPr marL="0" indent="0" algn="ctr">
              <a:buNone/>
            </a:pPr>
            <a:r>
              <a:rPr sz="1500" b="1">
                <a:solidFill>
                  <a:srgbClr val="202020"/>
                </a:solidFill>
                <a:latin typeface="Aptos"/>
                <a:ea typeface="Aptos"/>
                <a:cs typeface="Aptos"/>
              </a:rPr>
              <a:t>Exact matches plus</a:t>
            </a:r>
            <a:endParaRPr sz="1500"/>
          </a:p>
          <a:p>
            <a:pPr marL="0" indent="0" algn="ctr">
              <a:buNone/>
            </a:pPr>
            <a:r>
              <a:rPr sz="1500" b="1">
                <a:solidFill>
                  <a:srgbClr val="202020"/>
                </a:solidFill>
                <a:latin typeface="Aptos"/>
                <a:ea typeface="Aptos"/>
                <a:cs typeface="Aptos"/>
              </a:rPr>
              <a:t>manual review</a:t>
            </a:r>
            <a:endParaRPr sz="150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63845BEA-7AA1-4F6C-B419-7C9AD5E64ECA}"/>
              </a:ext>
            </a:extLst>
          </p:cNvPr>
          <p:cNvSpPr>
            <a:spLocks noGrp="1"/>
          </p:cNvSpPr>
          <p:nvPr/>
        </p:nvSpPr>
        <p:spPr>
          <a:xfrm>
            <a:off x="7360920" y="3291840"/>
            <a:ext cx="960120" cy="0"/>
          </a:xfrm>
          <a:prstGeom prst="line">
            <a:avLst/>
          </a:prstGeom>
          <a:noFill/>
          <a:ln w="26670">
            <a:solidFill>
              <a:srgbClr val="D9822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0F493EB-A5D1-4A78-8BEE-504A51BCCD61}"/>
              </a:ext>
            </a:extLst>
          </p:cNvPr>
          <p:cNvSpPr>
            <a:spLocks noGrp="1"/>
          </p:cNvSpPr>
          <p:nvPr/>
        </p:nvSpPr>
        <p:spPr>
          <a:xfrm>
            <a:off x="8458200" y="2880360"/>
            <a:ext cx="2697480" cy="822960"/>
          </a:xfrm>
          <a:prstGeom prst="rect">
            <a:avLst/>
          </a:prstGeom>
          <a:solidFill>
            <a:srgbClr val="F6F7F9"/>
          </a:solidFill>
          <a:ln w="12700">
            <a:solidFill>
              <a:srgbClr val="D9DEE3"/>
            </a:solidFill>
          </a:ln>
        </p:spPr>
        <p:txBody>
          <a:bodyPr wrap="square" lIns="1524" tIns="1524" rIns="1524" bIns="1524" anchor="ctr">
            <a:normAutofit/>
          </a:bodyPr>
          <a:lstStyle/>
          <a:p>
            <a:pPr marL="0" indent="0" algn="ctr">
              <a:buNone/>
            </a:pPr>
            <a:r>
              <a:rPr sz="1500" b="1">
                <a:solidFill>
                  <a:srgbClr val="202020"/>
                </a:solidFill>
                <a:latin typeface="Aptos"/>
                <a:ea typeface="Aptos"/>
                <a:cs typeface="Aptos"/>
              </a:rPr>
              <a:t>Archive enrichment</a:t>
            </a:r>
            <a:endParaRPr sz="1500"/>
          </a:p>
          <a:p>
            <a:pPr marL="0" indent="0" algn="ctr">
              <a:buNone/>
            </a:pPr>
            <a:r>
              <a:rPr sz="1500" b="1">
                <a:solidFill>
                  <a:srgbClr val="202020"/>
                </a:solidFill>
                <a:latin typeface="Aptos"/>
                <a:ea typeface="Aptos"/>
                <a:cs typeface="Aptos"/>
              </a:rPr>
              <a:t>Description, bond, fee,</a:t>
            </a:r>
            <a:endParaRPr sz="1500"/>
          </a:p>
          <a:p>
            <a:pPr marL="0" indent="0" algn="ctr">
              <a:buNone/>
            </a:pPr>
            <a:r>
              <a:rPr sz="1500" b="1">
                <a:solidFill>
                  <a:srgbClr val="202020"/>
                </a:solidFill>
                <a:latin typeface="Aptos"/>
                <a:ea typeface="Aptos"/>
                <a:cs typeface="Aptos"/>
              </a:rPr>
              <a:t>duration and dates</a:t>
            </a:r>
            <a:endParaRPr sz="15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64D182B4-E43F-4E1B-A827-60B4C8AFB0E6}"/>
              </a:ext>
            </a:extLst>
          </p:cNvPr>
          <p:cNvSpPr>
            <a:spLocks noGrp="1"/>
          </p:cNvSpPr>
          <p:nvPr/>
        </p:nvSpPr>
        <p:spPr>
          <a:xfrm>
            <a:off x="1143000" y="4956048"/>
            <a:ext cx="9875520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700" b="1">
                <a:solidFill>
                  <a:srgbClr val="B8463A"/>
                </a:solidFill>
              </a:rPr>
              <a:t>Leakage rule: bidder count, competitor prices, winning bidder and other post-bid fields are never model inputs.</a:t>
            </a:r>
            <a:endParaRPr sz="1700"/>
          </a:p>
        </p:txBody>
      </p:sp>
    </p:spTree>
    <p:extLst>
      <p:ext uri="{BB962C8B-B14F-4D97-AF65-F5344CB8AC3E}">
        <p14:creationId xmlns:p14="http://schemas.microsoft.com/office/powerpoint/2010/main" val="3334351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76A18A4-2A74-4D58-AD52-ADAED2BA9283}"/>
              </a:ext>
            </a:extLst>
          </p:cNvPr>
          <p:cNvSpPr>
            <a:spLocks noGrp="1"/>
          </p:cNvSpPr>
          <p:nvPr/>
        </p:nvSpPr>
        <p:spPr>
          <a:xfrm>
            <a:off x="658368" y="310896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 b="1">
                <a:solidFill>
                  <a:srgbClr val="D9822B"/>
                </a:solidFill>
                <a:latin typeface="Aptos"/>
                <a:ea typeface="Aptos"/>
                <a:cs typeface="Aptos"/>
              </a:rPr>
              <a:t>APPROACH</a:t>
            </a:r>
            <a:endParaRPr sz="85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FDBFB8D-A657-4D74-942C-F8322D071633}"/>
              </a:ext>
            </a:extLst>
          </p:cNvPr>
          <p:cNvSpPr>
            <a:spLocks noGrp="1"/>
          </p:cNvSpPr>
          <p:nvPr/>
        </p:nvSpPr>
        <p:spPr>
          <a:xfrm>
            <a:off x="621792" y="530352"/>
            <a:ext cx="777240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400" b="1">
                <a:solidFill>
                  <a:srgbClr val="12263A"/>
                </a:solidFill>
                <a:latin typeface="Aptos Display"/>
                <a:ea typeface="Aptos Display"/>
                <a:cs typeface="Aptos Display"/>
              </a:rPr>
              <a:t>The model uses older and recent tender data</a:t>
            </a:r>
            <a:endParaRPr sz="24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07B8E7C-59B5-4B08-B7FF-59C1C7A5E7E4}"/>
              </a:ext>
            </a:extLst>
          </p:cNvPr>
          <p:cNvSpPr>
            <a:spLocks noGrp="1"/>
          </p:cNvSpPr>
          <p:nvPr/>
        </p:nvSpPr>
        <p:spPr>
          <a:xfrm>
            <a:off x="621792" y="1024128"/>
            <a:ext cx="10927080" cy="0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EEDDA17-DD2D-4661-A5C4-AEA0DA039D20}"/>
              </a:ext>
            </a:extLst>
          </p:cNvPr>
          <p:cNvSpPr>
            <a:spLocks noGrp="1"/>
          </p:cNvSpPr>
          <p:nvPr/>
        </p:nvSpPr>
        <p:spPr>
          <a:xfrm>
            <a:off x="11201400" y="384048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5F6B73"/>
                </a:solidFill>
              </a:rPr>
              <a:t>06</a:t>
            </a:r>
            <a:endParaRPr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51254C0-9840-43F5-AD10-069D623EA2DC}"/>
              </a:ext>
            </a:extLst>
          </p:cNvPr>
          <p:cNvSpPr>
            <a:spLocks noGrp="1"/>
          </p:cNvSpPr>
          <p:nvPr/>
        </p:nvSpPr>
        <p:spPr>
          <a:xfrm>
            <a:off x="914400" y="1508760"/>
            <a:ext cx="4206240" cy="658368"/>
          </a:xfrm>
          <a:prstGeom prst="rect">
            <a:avLst/>
          </a:prstGeom>
          <a:solidFill>
            <a:srgbClr val="EAF2F8"/>
          </a:solidFill>
          <a:ln w="12700">
            <a:solidFill>
              <a:srgbClr val="EAF2F8"/>
            </a:solidFill>
          </a:ln>
        </p:spPr>
        <p:txBody>
          <a:bodyPr wrap="square" lIns="1524" tIns="1524" rIns="1524" bIns="1524" anchor="ctr">
            <a:normAutofit lnSpcReduction="10000"/>
          </a:bodyPr>
          <a:lstStyle/>
          <a:p>
            <a:pPr marL="0" indent="0" algn="ctr">
              <a:buNone/>
            </a:pPr>
            <a:r>
              <a:rPr sz="2200" b="1">
                <a:solidFill>
                  <a:srgbClr val="202020"/>
                </a:solidFill>
                <a:latin typeface="Aptos"/>
                <a:ea typeface="Aptos"/>
                <a:cs typeface="Aptos"/>
              </a:rPr>
              <a:t>Older awards</a:t>
            </a:r>
            <a:endParaRPr sz="2200"/>
          </a:p>
          <a:p>
            <a:pPr marL="0" indent="0" algn="ctr">
              <a:buNone/>
            </a:pPr>
            <a:r>
              <a:rPr sz="2200" b="1">
                <a:solidFill>
                  <a:srgbClr val="202020"/>
                </a:solidFill>
                <a:latin typeface="Aptos"/>
                <a:ea typeface="Aptos"/>
                <a:cs typeface="Aptos"/>
              </a:rPr>
              <a:t>2016 onward</a:t>
            </a:r>
            <a:endParaRPr sz="22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A8BCBF9-B651-4B71-B5FB-9A9E22C380F2}"/>
              </a:ext>
            </a:extLst>
          </p:cNvPr>
          <p:cNvSpPr>
            <a:spLocks noGrp="1"/>
          </p:cNvSpPr>
          <p:nvPr/>
        </p:nvSpPr>
        <p:spPr>
          <a:xfrm>
            <a:off x="1078992" y="2423160"/>
            <a:ext cx="3886200" cy="160020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>
              <a:buNone/>
            </a:pPr>
            <a:r>
              <a:rPr sz="1600">
                <a:solidFill>
                  <a:srgbClr val="202020"/>
                </a:solidFill>
              </a:rPr>
              <a:t>Provide a broad historical view.</a:t>
            </a:r>
            <a:endParaRPr sz="1600"/>
          </a:p>
          <a:p>
            <a:pPr marL="0" indent="0">
              <a:buNone/>
            </a:pPr>
            <a:endParaRPr sz="1600"/>
          </a:p>
          <a:p>
            <a:pPr marL="0" indent="0">
              <a:buNone/>
            </a:pPr>
            <a:r>
              <a:rPr sz="1600">
                <a:solidFill>
                  <a:srgbClr val="202020"/>
                </a:solidFill>
              </a:rPr>
              <a:t>Main details:</a:t>
            </a:r>
            <a:endParaRPr sz="1600"/>
          </a:p>
          <a:p>
            <a:pPr marL="0" indent="0">
              <a:buNone/>
            </a:pPr>
            <a:r>
              <a:rPr sz="1600">
                <a:solidFill>
                  <a:srgbClr val="202020"/>
                </a:solidFill>
              </a:rPr>
              <a:t>• issuing authority</a:t>
            </a:r>
            <a:endParaRPr sz="1600"/>
          </a:p>
          <a:p>
            <a:pPr marL="0" indent="0">
              <a:buNone/>
            </a:pPr>
            <a:r>
              <a:rPr sz="1600">
                <a:solidFill>
                  <a:srgbClr val="202020"/>
                </a:solidFill>
              </a:rPr>
              <a:t>• sector</a:t>
            </a:r>
            <a:endParaRPr sz="1600"/>
          </a:p>
          <a:p>
            <a:pPr marL="0" indent="0">
              <a:buNone/>
            </a:pPr>
            <a:r>
              <a:rPr sz="1600">
                <a:solidFill>
                  <a:srgbClr val="202020"/>
                </a:solidFill>
              </a:rPr>
              <a:t>• tender subject</a:t>
            </a:r>
            <a:endParaRPr sz="16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97F6910-E871-4CBA-B6BC-70E52D207D7A}"/>
              </a:ext>
            </a:extLst>
          </p:cNvPr>
          <p:cNvSpPr>
            <a:spLocks noGrp="1"/>
          </p:cNvSpPr>
          <p:nvPr/>
        </p:nvSpPr>
        <p:spPr>
          <a:xfrm>
            <a:off x="6903720" y="1508760"/>
            <a:ext cx="4206240" cy="658368"/>
          </a:xfrm>
          <a:prstGeom prst="rect">
            <a:avLst/>
          </a:prstGeom>
          <a:solidFill>
            <a:srgbClr val="FFF2DF"/>
          </a:solidFill>
          <a:ln w="12700">
            <a:solidFill>
              <a:srgbClr val="FFF2DF"/>
            </a:solidFill>
          </a:ln>
        </p:spPr>
        <p:txBody>
          <a:bodyPr wrap="square" lIns="1524" tIns="1524" rIns="1524" bIns="1524" anchor="ctr">
            <a:normAutofit lnSpcReduction="10000"/>
          </a:bodyPr>
          <a:lstStyle/>
          <a:p>
            <a:pPr marL="0" indent="0" algn="ctr">
              <a:buNone/>
            </a:pPr>
            <a:r>
              <a:rPr sz="2200" b="1">
                <a:solidFill>
                  <a:srgbClr val="202020"/>
                </a:solidFill>
                <a:latin typeface="Aptos"/>
                <a:ea typeface="Aptos"/>
                <a:cs typeface="Aptos"/>
              </a:rPr>
              <a:t>Recent tenders</a:t>
            </a:r>
            <a:endParaRPr sz="2200"/>
          </a:p>
          <a:p>
            <a:pPr marL="0" indent="0" algn="ctr">
              <a:buNone/>
            </a:pPr>
            <a:r>
              <a:rPr sz="2200" b="1">
                <a:solidFill>
                  <a:srgbClr val="202020"/>
                </a:solidFill>
                <a:latin typeface="Aptos"/>
                <a:ea typeface="Aptos"/>
                <a:cs typeface="Aptos"/>
              </a:rPr>
              <a:t>Detailed records</a:t>
            </a:r>
            <a:endParaRPr sz="22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7945A5C-F475-474D-ACE5-28379DFF4F28}"/>
              </a:ext>
            </a:extLst>
          </p:cNvPr>
          <p:cNvSpPr>
            <a:spLocks noGrp="1"/>
          </p:cNvSpPr>
          <p:nvPr/>
        </p:nvSpPr>
        <p:spPr>
          <a:xfrm>
            <a:off x="7059168" y="2423160"/>
            <a:ext cx="3886200" cy="169164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>
              <a:buNone/>
            </a:pPr>
            <a:r>
              <a:rPr sz="1600">
                <a:solidFill>
                  <a:srgbClr val="202020"/>
                </a:solidFill>
              </a:rPr>
              <a:t>Provide richer information.</a:t>
            </a:r>
            <a:endParaRPr sz="1600"/>
          </a:p>
          <a:p>
            <a:pPr marL="0" indent="0">
              <a:buNone/>
            </a:pPr>
            <a:endParaRPr sz="1600"/>
          </a:p>
          <a:p>
            <a:pPr marL="0" indent="0">
              <a:buNone/>
            </a:pPr>
            <a:r>
              <a:rPr sz="1600">
                <a:solidFill>
                  <a:srgbClr val="202020"/>
                </a:solidFill>
              </a:rPr>
              <a:t>Add details such as:</a:t>
            </a:r>
            <a:endParaRPr sz="1600"/>
          </a:p>
          <a:p>
            <a:pPr marL="0" indent="0">
              <a:buNone/>
            </a:pPr>
            <a:r>
              <a:rPr sz="1600">
                <a:solidFill>
                  <a:srgbClr val="202020"/>
                </a:solidFill>
              </a:rPr>
              <a:t>• description and scope</a:t>
            </a:r>
            <a:endParaRPr sz="1600"/>
          </a:p>
          <a:p>
            <a:pPr marL="0" indent="0">
              <a:buNone/>
            </a:pPr>
            <a:r>
              <a:rPr sz="1600">
                <a:solidFill>
                  <a:srgbClr val="202020"/>
                </a:solidFill>
              </a:rPr>
              <a:t>• initial bond and fee</a:t>
            </a:r>
            <a:endParaRPr sz="1600"/>
          </a:p>
          <a:p>
            <a:pPr marL="0" indent="0">
              <a:buNone/>
            </a:pPr>
            <a:r>
              <a:rPr sz="1600">
                <a:solidFill>
                  <a:srgbClr val="202020"/>
                </a:solidFill>
              </a:rPr>
              <a:t>• contract duration</a:t>
            </a:r>
            <a:endParaRPr sz="16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5F6697A-7C62-4592-9555-9C306A2BA00E}"/>
              </a:ext>
            </a:extLst>
          </p:cNvPr>
          <p:cNvSpPr>
            <a:spLocks noGrp="1"/>
          </p:cNvSpPr>
          <p:nvPr/>
        </p:nvSpPr>
        <p:spPr>
          <a:xfrm>
            <a:off x="2103120" y="5074920"/>
            <a:ext cx="795528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100" b="1">
                <a:solidFill>
                  <a:srgbClr val="12263A"/>
                </a:solidFill>
              </a:rPr>
              <a:t>This uses the full award history without pretending older tenders contain details that were never published.</a:t>
            </a:r>
            <a:endParaRPr sz="2100"/>
          </a:p>
        </p:txBody>
      </p:sp>
    </p:spTree>
    <p:extLst>
      <p:ext uri="{BB962C8B-B14F-4D97-AF65-F5344CB8AC3E}">
        <p14:creationId xmlns:p14="http://schemas.microsoft.com/office/powerpoint/2010/main" val="6845097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2052D24-4397-484D-9859-086CD69FB835}"/>
              </a:ext>
            </a:extLst>
          </p:cNvPr>
          <p:cNvSpPr>
            <a:spLocks noGrp="1"/>
          </p:cNvSpPr>
          <p:nvPr/>
        </p:nvSpPr>
        <p:spPr>
          <a:xfrm>
            <a:off x="658368" y="310896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 b="1">
                <a:solidFill>
                  <a:srgbClr val="D9822B"/>
                </a:solidFill>
                <a:latin typeface="Aptos"/>
                <a:ea typeface="Aptos"/>
                <a:cs typeface="Aptos"/>
              </a:rPr>
              <a:t>NON-EXPERT EXPLANATION</a:t>
            </a:r>
            <a:endParaRPr sz="85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8386984-88D4-4BF3-8964-57F67B81F2CE}"/>
              </a:ext>
            </a:extLst>
          </p:cNvPr>
          <p:cNvSpPr>
            <a:spLocks noGrp="1"/>
          </p:cNvSpPr>
          <p:nvPr/>
        </p:nvSpPr>
        <p:spPr>
          <a:xfrm>
            <a:off x="621792" y="530352"/>
            <a:ext cx="777240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400" b="1">
                <a:solidFill>
                  <a:srgbClr val="12263A"/>
                </a:solidFill>
                <a:latin typeface="Aptos Display"/>
                <a:ea typeface="Aptos Display"/>
                <a:cs typeface="Aptos Display"/>
              </a:rPr>
              <a:t>Tender details affect the predicted price</a:t>
            </a:r>
            <a:endParaRPr sz="24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C541EC4-B03C-4B53-9741-C019F42A0AEB}"/>
              </a:ext>
            </a:extLst>
          </p:cNvPr>
          <p:cNvSpPr>
            <a:spLocks noGrp="1"/>
          </p:cNvSpPr>
          <p:nvPr/>
        </p:nvSpPr>
        <p:spPr>
          <a:xfrm>
            <a:off x="621792" y="1024128"/>
            <a:ext cx="10927080" cy="0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5DF68E5-F437-4EAB-BB8F-6A3F55FF317D}"/>
              </a:ext>
            </a:extLst>
          </p:cNvPr>
          <p:cNvSpPr>
            <a:spLocks noGrp="1"/>
          </p:cNvSpPr>
          <p:nvPr/>
        </p:nvSpPr>
        <p:spPr>
          <a:xfrm>
            <a:off x="11201400" y="384048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5F6B73"/>
                </a:solidFill>
              </a:rPr>
              <a:t>07</a:t>
            </a:r>
            <a:endParaRPr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0BDE52D-D134-400C-91B8-72D0F7038E1F}"/>
              </a:ext>
            </a:extLst>
          </p:cNvPr>
          <p:cNvSpPr>
            <a:spLocks noGrp="1"/>
          </p:cNvSpPr>
          <p:nvPr/>
        </p:nvSpPr>
        <p:spPr>
          <a:xfrm>
            <a:off x="868680" y="1627632"/>
            <a:ext cx="2194560" cy="685800"/>
          </a:xfrm>
          <a:prstGeom prst="rect">
            <a:avLst/>
          </a:prstGeom>
          <a:solidFill>
            <a:srgbClr val="EAF2F8"/>
          </a:solidFill>
          <a:ln w="12700">
            <a:solidFill>
              <a:srgbClr val="EAF2F8"/>
            </a:solidFill>
          </a:ln>
        </p:spPr>
        <p:txBody>
          <a:bodyPr wrap="square" lIns="1524" tIns="1524" rIns="1524" bIns="1524" anchor="ctr">
            <a:normAutofit/>
          </a:bodyPr>
          <a:lstStyle/>
          <a:p>
            <a:pPr marL="0" indent="0" algn="ctr">
              <a:buNone/>
            </a:pPr>
            <a:r>
              <a:rPr sz="1500" b="1">
                <a:solidFill>
                  <a:srgbClr val="202020"/>
                </a:solidFill>
                <a:latin typeface="Aptos"/>
                <a:ea typeface="Aptos"/>
                <a:cs typeface="Aptos"/>
              </a:rPr>
              <a:t>Who issued it?</a:t>
            </a:r>
            <a:endParaRPr sz="15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0A9D96D-02C7-4E09-AF30-AB87A8457D1A}"/>
              </a:ext>
            </a:extLst>
          </p:cNvPr>
          <p:cNvSpPr>
            <a:spLocks noGrp="1"/>
          </p:cNvSpPr>
          <p:nvPr/>
        </p:nvSpPr>
        <p:spPr>
          <a:xfrm>
            <a:off x="3520440" y="1627632"/>
            <a:ext cx="2468880" cy="685800"/>
          </a:xfrm>
          <a:prstGeom prst="rect">
            <a:avLst/>
          </a:prstGeom>
          <a:solidFill>
            <a:srgbClr val="EAF2F8"/>
          </a:solidFill>
          <a:ln w="12700">
            <a:solidFill>
              <a:srgbClr val="EAF2F8"/>
            </a:solidFill>
          </a:ln>
        </p:spPr>
        <p:txBody>
          <a:bodyPr wrap="square" lIns="1524" tIns="1524" rIns="1524" bIns="1524" anchor="ctr">
            <a:normAutofit/>
          </a:bodyPr>
          <a:lstStyle/>
          <a:p>
            <a:pPr marL="0" indent="0" algn="ctr">
              <a:buNone/>
            </a:pPr>
            <a:r>
              <a:rPr sz="1500" b="1">
                <a:solidFill>
                  <a:srgbClr val="202020"/>
                </a:solidFill>
                <a:latin typeface="Aptos"/>
                <a:ea typeface="Aptos"/>
                <a:cs typeface="Aptos"/>
              </a:rPr>
              <a:t>What is being bought?</a:t>
            </a:r>
            <a:endParaRPr sz="15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F6D0FCA-F9F1-46A4-8F11-41EB157AB79A}"/>
              </a:ext>
            </a:extLst>
          </p:cNvPr>
          <p:cNvSpPr>
            <a:spLocks noGrp="1"/>
          </p:cNvSpPr>
          <p:nvPr/>
        </p:nvSpPr>
        <p:spPr>
          <a:xfrm>
            <a:off x="6492240" y="1627632"/>
            <a:ext cx="2194560" cy="685800"/>
          </a:xfrm>
          <a:prstGeom prst="rect">
            <a:avLst/>
          </a:prstGeom>
          <a:solidFill>
            <a:srgbClr val="FFF2DF"/>
          </a:solidFill>
          <a:ln w="12700">
            <a:solidFill>
              <a:srgbClr val="FFF2DF"/>
            </a:solidFill>
          </a:ln>
        </p:spPr>
        <p:txBody>
          <a:bodyPr wrap="square" lIns="1524" tIns="1524" rIns="1524" bIns="1524" anchor="ctr">
            <a:normAutofit/>
          </a:bodyPr>
          <a:lstStyle/>
          <a:p>
            <a:pPr marL="0" indent="0" algn="ctr">
              <a:buNone/>
            </a:pPr>
            <a:r>
              <a:rPr sz="1500" b="1">
                <a:solidFill>
                  <a:srgbClr val="202020"/>
                </a:solidFill>
                <a:latin typeface="Aptos"/>
                <a:ea typeface="Aptos"/>
                <a:cs typeface="Aptos"/>
              </a:rPr>
              <a:t>How large is it?</a:t>
            </a:r>
            <a:endParaRPr sz="15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212246F-F4A0-4A95-BAC6-AD57B9D4D5E3}"/>
              </a:ext>
            </a:extLst>
          </p:cNvPr>
          <p:cNvSpPr>
            <a:spLocks noGrp="1"/>
          </p:cNvSpPr>
          <p:nvPr/>
        </p:nvSpPr>
        <p:spPr>
          <a:xfrm>
            <a:off x="9098280" y="1627632"/>
            <a:ext cx="2331720" cy="685800"/>
          </a:xfrm>
          <a:prstGeom prst="rect">
            <a:avLst/>
          </a:prstGeom>
          <a:solidFill>
            <a:srgbClr val="FFF2DF"/>
          </a:solidFill>
          <a:ln w="12700">
            <a:solidFill>
              <a:srgbClr val="FFF2DF"/>
            </a:solidFill>
          </a:ln>
        </p:spPr>
        <p:txBody>
          <a:bodyPr wrap="square" lIns="1524" tIns="1524" rIns="1524" bIns="1524" anchor="ctr">
            <a:normAutofit/>
          </a:bodyPr>
          <a:lstStyle/>
          <a:p>
            <a:pPr marL="0" indent="0" algn="ctr">
              <a:buNone/>
            </a:pPr>
            <a:r>
              <a:rPr sz="1500" b="1">
                <a:solidFill>
                  <a:srgbClr val="202020"/>
                </a:solidFill>
                <a:latin typeface="Aptos"/>
                <a:ea typeface="Aptos"/>
                <a:cs typeface="Aptos"/>
              </a:rPr>
              <a:t>How long and under</a:t>
            </a:r>
            <a:endParaRPr sz="1500"/>
          </a:p>
          <a:p>
            <a:pPr marL="0" indent="0" algn="ctr">
              <a:buNone/>
            </a:pPr>
            <a:r>
              <a:rPr sz="1500" b="1">
                <a:solidFill>
                  <a:srgbClr val="202020"/>
                </a:solidFill>
                <a:latin typeface="Aptos"/>
                <a:ea typeface="Aptos"/>
                <a:cs typeface="Aptos"/>
              </a:rPr>
              <a:t>what conditions?</a:t>
            </a:r>
            <a:endParaRPr sz="15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803CBDB-DBCD-4BDF-AB96-46AE8AAF8289}"/>
              </a:ext>
            </a:extLst>
          </p:cNvPr>
          <p:cNvSpPr>
            <a:spLocks noGrp="1"/>
          </p:cNvSpPr>
          <p:nvPr/>
        </p:nvSpPr>
        <p:spPr>
          <a:xfrm>
            <a:off x="1188720" y="2926080"/>
            <a:ext cx="978408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200" b="1">
                <a:solidFill>
                  <a:srgbClr val="12263A"/>
                </a:solidFill>
              </a:rPr>
              <a:t>The model compares these signals with patterns found in previous tenders.</a:t>
            </a:r>
            <a:endParaRPr sz="22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D23EDD2-A13C-4403-A796-C04C0A184795}"/>
              </a:ext>
            </a:extLst>
          </p:cNvPr>
          <p:cNvSpPr>
            <a:spLocks noGrp="1"/>
          </p:cNvSpPr>
          <p:nvPr/>
        </p:nvSpPr>
        <p:spPr>
          <a:xfrm>
            <a:off x="1051560" y="3913632"/>
            <a:ext cx="10012680" cy="914400"/>
          </a:xfrm>
          <a:prstGeom prst="rect">
            <a:avLst/>
          </a:prstGeom>
          <a:solidFill>
            <a:srgbClr val="F6F7F9"/>
          </a:solidFill>
          <a:ln w="12700">
            <a:solidFill>
              <a:srgbClr val="D9DEE3"/>
            </a:solidFill>
          </a:ln>
        </p:spPr>
        <p:txBody>
          <a:bodyPr wrap="square" lIns="1524" tIns="1524" rIns="1524" bIns="1524" anchor="ctr">
            <a:normAutofit/>
          </a:bodyPr>
          <a:lstStyle/>
          <a:p>
            <a:pPr marL="0" indent="0" algn="ctr">
              <a:buNone/>
            </a:pPr>
            <a:r>
              <a:rPr sz="1800">
                <a:solidFill>
                  <a:srgbClr val="202020"/>
                </a:solidFill>
                <a:latin typeface="Aptos"/>
                <a:ea typeface="Aptos"/>
                <a:cs typeface="Aptos"/>
              </a:rPr>
              <a:t>It then estimates the likely winning price and gives a competitive range around that estimate.</a:t>
            </a: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5002983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40A4957-6ED5-42FA-B63E-543D7ABF94F7}"/>
              </a:ext>
            </a:extLst>
          </p:cNvPr>
          <p:cNvSpPr>
            <a:spLocks noGrp="1"/>
          </p:cNvSpPr>
          <p:nvPr/>
        </p:nvSpPr>
        <p:spPr>
          <a:xfrm>
            <a:off x="658368" y="310896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 b="1">
                <a:solidFill>
                  <a:srgbClr val="D9822B"/>
                </a:solidFill>
                <a:latin typeface="Aptos"/>
                <a:ea typeface="Aptos"/>
                <a:cs typeface="Aptos"/>
              </a:rPr>
              <a:t>EVALUATION</a:t>
            </a:r>
            <a:endParaRPr sz="85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7CBC233-DB3A-4B09-9CF8-7F90394A6188}"/>
              </a:ext>
            </a:extLst>
          </p:cNvPr>
          <p:cNvSpPr>
            <a:spLocks noGrp="1"/>
          </p:cNvSpPr>
          <p:nvPr/>
        </p:nvSpPr>
        <p:spPr>
          <a:xfrm>
            <a:off x="621792" y="530352"/>
            <a:ext cx="777240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400" b="1">
                <a:solidFill>
                  <a:srgbClr val="12263A"/>
                </a:solidFill>
                <a:latin typeface="Aptos Display"/>
                <a:ea typeface="Aptos Display"/>
                <a:cs typeface="Aptos Display"/>
              </a:rPr>
              <a:t>Final results on unseen 2025 tenders</a:t>
            </a:r>
            <a:endParaRPr sz="24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CE818DD-EFEE-4946-B05A-A314D09B445E}"/>
              </a:ext>
            </a:extLst>
          </p:cNvPr>
          <p:cNvSpPr>
            <a:spLocks noGrp="1"/>
          </p:cNvSpPr>
          <p:nvPr/>
        </p:nvSpPr>
        <p:spPr>
          <a:xfrm>
            <a:off x="621792" y="1024128"/>
            <a:ext cx="10927080" cy="0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90A8E6E-2DF9-421F-AD84-8CCF9C4574E8}"/>
              </a:ext>
            </a:extLst>
          </p:cNvPr>
          <p:cNvSpPr>
            <a:spLocks noGrp="1"/>
          </p:cNvSpPr>
          <p:nvPr/>
        </p:nvSpPr>
        <p:spPr>
          <a:xfrm>
            <a:off x="11201400" y="384048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5F6B73"/>
                </a:solidFill>
              </a:rPr>
              <a:t>08</a:t>
            </a:r>
            <a:endParaRPr sz="9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C989DFA-5154-44AD-B3C7-B7A5AA6DB081}"/>
              </a:ext>
            </a:extLst>
          </p:cNvPr>
          <p:cNvSpPr>
            <a:spLocks noGrp="1"/>
          </p:cNvSpPr>
          <p:nvPr/>
        </p:nvSpPr>
        <p:spPr>
          <a:xfrm>
            <a:off x="1051560" y="169164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800" b="1" dirty="0">
                <a:solidFill>
                  <a:srgbClr val="12263A"/>
                </a:solidFill>
              </a:rPr>
              <a:t>model selection</a:t>
            </a:r>
            <a:endParaRPr sz="18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907D474-ACD0-4804-9AEC-B7FD65523D6E}"/>
              </a:ext>
            </a:extLst>
          </p:cNvPr>
          <p:cNvSpPr>
            <a:spLocks noGrp="1"/>
          </p:cNvSpPr>
          <p:nvPr/>
        </p:nvSpPr>
        <p:spPr>
          <a:xfrm>
            <a:off x="1051560" y="224028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5F6B73"/>
                </a:solidFill>
              </a:rPr>
              <a:t>Basic model</a:t>
            </a:r>
            <a:endParaRPr sz="120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2DE06608-28D5-4841-9A5B-C7D7F0300225}"/>
              </a:ext>
            </a:extLst>
          </p:cNvPr>
          <p:cNvSpPr>
            <a:spLocks noGrp="1"/>
          </p:cNvSpPr>
          <p:nvPr/>
        </p:nvSpPr>
        <p:spPr>
          <a:xfrm>
            <a:off x="2148840" y="2212848"/>
            <a:ext cx="4069080" cy="274320"/>
          </a:xfrm>
          <a:prstGeom prst="rect">
            <a:avLst/>
          </a:prstGeom>
          <a:solidFill>
            <a:srgbClr val="B8463A"/>
          </a:solidFill>
          <a:ln w="12700">
            <a:solidFill>
              <a:srgbClr val="B846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A9A05D8-FBC3-4B56-B495-076BB971DB8A}"/>
              </a:ext>
            </a:extLst>
          </p:cNvPr>
          <p:cNvSpPr>
            <a:spLocks noGrp="1"/>
          </p:cNvSpPr>
          <p:nvPr/>
        </p:nvSpPr>
        <p:spPr>
          <a:xfrm>
            <a:off x="6355080" y="2176272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500"/>
            </a:pPr>
            <a:r>
              <a:rPr sz="1500" b="1">
                <a:solidFill>
                  <a:srgbClr val="B8463A"/>
                </a:solidFill>
              </a:rPr>
              <a:t>39.5%</a:t>
            </a:r>
            <a:endParaRPr sz="13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554D5D1-8424-44EB-BCC7-0930CA4310E4}"/>
              </a:ext>
            </a:extLst>
          </p:cNvPr>
          <p:cNvSpPr>
            <a:spLocks noGrp="1"/>
          </p:cNvSpPr>
          <p:nvPr/>
        </p:nvSpPr>
        <p:spPr>
          <a:xfrm>
            <a:off x="1051560" y="278892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5F6B73"/>
                </a:solidFill>
              </a:rPr>
              <a:t>Final model</a:t>
            </a:r>
            <a:endParaRPr sz="120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49F71162-11F8-4477-A554-3F1C24CA0488}"/>
              </a:ext>
            </a:extLst>
          </p:cNvPr>
          <p:cNvSpPr>
            <a:spLocks noGrp="1"/>
          </p:cNvSpPr>
          <p:nvPr/>
        </p:nvSpPr>
        <p:spPr>
          <a:xfrm>
            <a:off x="2148840" y="2761488"/>
            <a:ext cx="1874520" cy="274320"/>
          </a:xfrm>
          <a:prstGeom prst="rect">
            <a:avLst/>
          </a:prstGeom>
          <a:solidFill>
            <a:srgbClr val="1E7A78"/>
          </a:solidFill>
          <a:ln w="12700">
            <a:solidFill>
              <a:srgbClr val="1E7A7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2959650-40BA-49E4-9E39-402926D8A7EA}"/>
              </a:ext>
            </a:extLst>
          </p:cNvPr>
          <p:cNvSpPr>
            <a:spLocks noGrp="1"/>
          </p:cNvSpPr>
          <p:nvPr/>
        </p:nvSpPr>
        <p:spPr>
          <a:xfrm>
            <a:off x="4187952" y="2724912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500"/>
            </a:pPr>
            <a:r>
              <a:rPr sz="1500" b="1">
                <a:solidFill>
                  <a:srgbClr val="1E7A78"/>
                </a:solidFill>
              </a:rPr>
              <a:t>24.2%</a:t>
            </a:r>
            <a:endParaRPr sz="13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8DAD915-A949-4249-BCFD-005FCA6BEAA0}"/>
              </a:ext>
            </a:extLst>
          </p:cNvPr>
          <p:cNvSpPr>
            <a:spLocks noGrp="1"/>
          </p:cNvSpPr>
          <p:nvPr/>
        </p:nvSpPr>
        <p:spPr>
          <a:xfrm>
            <a:off x="1051560" y="365760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800" b="1" dirty="0">
                <a:solidFill>
                  <a:srgbClr val="12263A"/>
                </a:solidFill>
              </a:rPr>
              <a:t>Untouched 2025 test</a:t>
            </a:r>
            <a:endParaRPr sz="18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CE902C7-CE00-4443-8BB9-DB4AEF656F8A}"/>
              </a:ext>
            </a:extLst>
          </p:cNvPr>
          <p:cNvSpPr>
            <a:spLocks noGrp="1"/>
          </p:cNvSpPr>
          <p:nvPr/>
        </p:nvSpPr>
        <p:spPr>
          <a:xfrm>
            <a:off x="1051560" y="4224528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5F6B73"/>
                </a:solidFill>
              </a:rPr>
              <a:t>Median error</a:t>
            </a:r>
            <a:endParaRPr sz="120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15048367-F6BA-41CB-A3B1-2BC8454EF1CD}"/>
              </a:ext>
            </a:extLst>
          </p:cNvPr>
          <p:cNvSpPr>
            <a:spLocks noGrp="1"/>
          </p:cNvSpPr>
          <p:nvPr/>
        </p:nvSpPr>
        <p:spPr>
          <a:xfrm>
            <a:off x="2148840" y="4197096"/>
            <a:ext cx="1572768" cy="274320"/>
          </a:xfrm>
          <a:prstGeom prst="rect">
            <a:avLst/>
          </a:prstGeom>
          <a:solidFill>
            <a:srgbClr val="B8463A"/>
          </a:solidFill>
          <a:ln w="12700">
            <a:solidFill>
              <a:srgbClr val="B846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359DCD3B-0A22-4715-9FD0-355053EC7801}"/>
              </a:ext>
            </a:extLst>
          </p:cNvPr>
          <p:cNvSpPr>
            <a:spLocks noGrp="1"/>
          </p:cNvSpPr>
          <p:nvPr/>
        </p:nvSpPr>
        <p:spPr>
          <a:xfrm>
            <a:off x="3886200" y="416052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500"/>
            </a:pPr>
            <a:r>
              <a:rPr sz="1500" b="1">
                <a:solidFill>
                  <a:srgbClr val="B8463A"/>
                </a:solidFill>
              </a:rPr>
              <a:t>25.1%</a:t>
            </a:r>
            <a:endParaRPr sz="13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B2E48768-0E2C-490B-BAC6-5136A9C4C5BC}"/>
              </a:ext>
            </a:extLst>
          </p:cNvPr>
          <p:cNvSpPr>
            <a:spLocks noGrp="1"/>
          </p:cNvSpPr>
          <p:nvPr/>
        </p:nvSpPr>
        <p:spPr>
          <a:xfrm>
            <a:off x="1051560" y="4773168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5F6B73"/>
                </a:solidFill>
              </a:rPr>
              <a:t>Within 2× actual</a:t>
            </a:r>
            <a:endParaRPr sz="120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D29B137A-30F4-4BE6-A19C-D2E2EC4DF498}"/>
              </a:ext>
            </a:extLst>
          </p:cNvPr>
          <p:cNvSpPr>
            <a:spLocks noGrp="1"/>
          </p:cNvSpPr>
          <p:nvPr/>
        </p:nvSpPr>
        <p:spPr>
          <a:xfrm>
            <a:off x="2148840" y="4745736"/>
            <a:ext cx="2953512" cy="274320"/>
          </a:xfrm>
          <a:prstGeom prst="rect">
            <a:avLst/>
          </a:prstGeom>
          <a:solidFill>
            <a:srgbClr val="1E7A78"/>
          </a:solidFill>
          <a:ln w="12700">
            <a:solidFill>
              <a:srgbClr val="1E7A7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028B7651-E7A7-4378-A1BF-C975FE440189}"/>
              </a:ext>
            </a:extLst>
          </p:cNvPr>
          <p:cNvSpPr>
            <a:spLocks noGrp="1"/>
          </p:cNvSpPr>
          <p:nvPr/>
        </p:nvSpPr>
        <p:spPr>
          <a:xfrm>
            <a:off x="5257800" y="47091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500"/>
            </a:pPr>
            <a:r>
              <a:rPr sz="1500" b="1">
                <a:solidFill>
                  <a:srgbClr val="1E7A78"/>
                </a:solidFill>
              </a:rPr>
              <a:t>86.6%</a:t>
            </a:r>
            <a:endParaRPr sz="130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0EBF42EF-15B9-4B37-915C-BC8AB94CE52B}"/>
              </a:ext>
            </a:extLst>
          </p:cNvPr>
          <p:cNvSpPr>
            <a:spLocks noGrp="1"/>
          </p:cNvSpPr>
          <p:nvPr/>
        </p:nvSpPr>
        <p:spPr>
          <a:xfrm>
            <a:off x="7543800" y="2057400"/>
            <a:ext cx="3246120" cy="2148840"/>
          </a:xfrm>
          <a:prstGeom prst="rect">
            <a:avLst/>
          </a:prstGeom>
          <a:solidFill>
            <a:srgbClr val="12263A"/>
          </a:solidFill>
          <a:ln w="12700">
            <a:solidFill>
              <a:srgbClr val="12263A"/>
            </a:solidFill>
          </a:ln>
        </p:spPr>
        <p:txBody>
          <a:bodyPr wrap="square" lIns="1524" tIns="1524" rIns="1524" bIns="1524" anchor="ctr">
            <a:normAutofit/>
          </a:bodyPr>
          <a:lstStyle/>
          <a:p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competitive range was calibrated using 2024 results and covered 81.2% of unseen 2025 awards.</a:t>
            </a:r>
            <a:endParaRPr sz="1900"/>
          </a:p>
        </p:txBody>
      </p:sp>
    </p:spTree>
    <p:extLst>
      <p:ext uri="{BB962C8B-B14F-4D97-AF65-F5344CB8AC3E}">
        <p14:creationId xmlns:p14="http://schemas.microsoft.com/office/powerpoint/2010/main" val="20712423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C35CB9E-8568-4AD2-84F5-188E388FA32B}"/>
              </a:ext>
            </a:extLst>
          </p:cNvPr>
          <p:cNvSpPr>
            <a:spLocks noGrp="1"/>
          </p:cNvSpPr>
          <p:nvPr/>
        </p:nvSpPr>
        <p:spPr>
          <a:xfrm>
            <a:off x="658368" y="310896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 b="1">
                <a:solidFill>
                  <a:srgbClr val="D9822B"/>
                </a:solidFill>
                <a:latin typeface="Aptos"/>
                <a:ea typeface="Aptos"/>
                <a:cs typeface="Aptos"/>
              </a:rPr>
              <a:t>APP WALKTHROUGH</a:t>
            </a:r>
            <a:endParaRPr sz="85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6AC82ED-7E88-4644-8ECA-D79CF835AB00}"/>
              </a:ext>
            </a:extLst>
          </p:cNvPr>
          <p:cNvSpPr>
            <a:spLocks noGrp="1"/>
          </p:cNvSpPr>
          <p:nvPr/>
        </p:nvSpPr>
        <p:spPr>
          <a:xfrm>
            <a:off x="621792" y="530352"/>
            <a:ext cx="777240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400" b="1">
                <a:solidFill>
                  <a:srgbClr val="12263A"/>
                </a:solidFill>
                <a:latin typeface="Aptos Display"/>
                <a:ea typeface="Aptos Display"/>
                <a:cs typeface="Aptos Display"/>
              </a:rPr>
              <a:t>The app adds evidence around each estimate</a:t>
            </a:r>
            <a:endParaRPr sz="24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1F4A043-A20A-48F7-B9A8-6F67EA9DC4AA}"/>
              </a:ext>
            </a:extLst>
          </p:cNvPr>
          <p:cNvSpPr>
            <a:spLocks noGrp="1"/>
          </p:cNvSpPr>
          <p:nvPr/>
        </p:nvSpPr>
        <p:spPr>
          <a:xfrm>
            <a:off x="621792" y="1024128"/>
            <a:ext cx="10927080" cy="0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F5D80EF-26DF-431E-A888-772DDF548C36}"/>
              </a:ext>
            </a:extLst>
          </p:cNvPr>
          <p:cNvSpPr>
            <a:spLocks noGrp="1"/>
          </p:cNvSpPr>
          <p:nvPr/>
        </p:nvSpPr>
        <p:spPr>
          <a:xfrm>
            <a:off x="11201400" y="384048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5F6B73"/>
                </a:solidFill>
              </a:rPr>
              <a:t>09</a:t>
            </a:r>
            <a:endParaRPr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F7E8A2D-615E-41F7-833E-73D9DEABFB20}"/>
              </a:ext>
            </a:extLst>
          </p:cNvPr>
          <p:cNvSpPr>
            <a:spLocks noGrp="1"/>
          </p:cNvSpPr>
          <p:nvPr/>
        </p:nvSpPr>
        <p:spPr>
          <a:xfrm>
            <a:off x="246888" y="1417320"/>
            <a:ext cx="2926080" cy="457200"/>
          </a:xfrm>
          <a:prstGeom prst="rect">
            <a:avLst/>
          </a:prstGeom>
          <a:solidFill>
            <a:srgbClr val="EAF2F8"/>
          </a:solidFill>
          <a:ln w="12700">
            <a:solidFill>
              <a:srgbClr val="EAF2F8"/>
            </a:solidFill>
          </a:ln>
        </p:spPr>
        <p:txBody>
          <a:bodyPr wrap="square" lIns="1524" tIns="1524" rIns="1524" bIns="1524" anchor="ctr">
            <a:normAutofit/>
          </a:bodyPr>
          <a:lstStyle/>
          <a:p>
            <a:pPr marL="0" indent="0" algn="ctr">
              <a:buNone/>
            </a:pPr>
            <a:r>
              <a:rPr sz="1800" b="1">
                <a:solidFill>
                  <a:srgbClr val="202020"/>
                </a:solidFill>
                <a:latin typeface="Aptos"/>
                <a:ea typeface="Aptos"/>
                <a:cs typeface="Aptos"/>
              </a:rPr>
              <a:t>Tender input</a:t>
            </a:r>
            <a:endParaRPr sz="18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3585A34-75A8-4A77-A53A-31012A8D0B1F}"/>
              </a:ext>
            </a:extLst>
          </p:cNvPr>
          <p:cNvSpPr>
            <a:spLocks noGrp="1"/>
          </p:cNvSpPr>
          <p:nvPr/>
        </p:nvSpPr>
        <p:spPr>
          <a:xfrm>
            <a:off x="1097280" y="2057400"/>
            <a:ext cx="2286000" cy="1645920"/>
          </a:xfrm>
          <a:prstGeom prst="rect">
            <a:avLst/>
          </a:prstGeom>
          <a:noFill/>
        </p:spPr>
        <p:txBody>
          <a:bodyPr wrap="square" lIns="508" tIns="508" rIns="508" bIns="508" anchor="ctr">
            <a:normAutofit/>
          </a:bodyPr>
          <a:lstStyle/>
          <a:p>
            <a:pPr marL="0" indent="0">
              <a:buNone/>
            </a:pPr>
            <a:r>
              <a:rPr sz="1700">
                <a:solidFill>
                  <a:srgbClr val="202020"/>
                </a:solidFill>
              </a:rPr>
              <a:t>Authority and sector</a:t>
            </a:r>
            <a:endParaRPr sz="1700"/>
          </a:p>
          <a:p>
            <a:pPr marL="0" indent="0">
              <a:buNone/>
            </a:pPr>
            <a:r>
              <a:rPr sz="1700">
                <a:solidFill>
                  <a:srgbClr val="202020"/>
                </a:solidFill>
              </a:rPr>
              <a:t>Subject and description</a:t>
            </a:r>
            <a:endParaRPr sz="1700"/>
          </a:p>
          <a:p>
            <a:pPr marL="0" indent="0">
              <a:buNone/>
            </a:pPr>
            <a:r>
              <a:rPr sz="1700">
                <a:solidFill>
                  <a:srgbClr val="202020"/>
                </a:solidFill>
              </a:rPr>
              <a:t>Bond, fee and duration</a:t>
            </a:r>
            <a:endParaRPr sz="1700"/>
          </a:p>
          <a:p>
            <a:pPr marL="0" indent="0">
              <a:buNone/>
            </a:pPr>
            <a:r>
              <a:rPr sz="1700">
                <a:solidFill>
                  <a:srgbClr val="202020"/>
                </a:solidFill>
              </a:rPr>
              <a:t>Tender conditions</a:t>
            </a:r>
            <a:endParaRPr sz="17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5B5C2CDE-7A0D-473A-888B-0F7309E96BBE}"/>
              </a:ext>
            </a:extLst>
          </p:cNvPr>
          <p:cNvSpPr>
            <a:spLocks noGrp="1"/>
          </p:cNvSpPr>
          <p:nvPr/>
        </p:nvSpPr>
        <p:spPr>
          <a:xfrm>
            <a:off x="4069080" y="2743200"/>
            <a:ext cx="1143000" cy="0"/>
          </a:xfrm>
          <a:prstGeom prst="line">
            <a:avLst/>
          </a:prstGeom>
          <a:noFill/>
          <a:ln w="26670">
            <a:solidFill>
              <a:srgbClr val="D9822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2CBD29B-30FA-4CD7-9697-7F53CAA14229}"/>
              </a:ext>
            </a:extLst>
          </p:cNvPr>
          <p:cNvSpPr>
            <a:spLocks noGrp="1"/>
          </p:cNvSpPr>
          <p:nvPr/>
        </p:nvSpPr>
        <p:spPr>
          <a:xfrm>
            <a:off x="5349240" y="2084832"/>
            <a:ext cx="2011680" cy="1097280"/>
          </a:xfrm>
          <a:prstGeom prst="rect">
            <a:avLst/>
          </a:prstGeom>
          <a:solidFill>
            <a:srgbClr val="E9F5EF"/>
          </a:solidFill>
          <a:ln w="12700">
            <a:solidFill>
              <a:srgbClr val="E9F5EF"/>
            </a:solidFill>
          </a:ln>
        </p:spPr>
        <p:txBody>
          <a:bodyPr wrap="square" lIns="1524" tIns="1524" rIns="1524" bIns="1524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202020"/>
                </a:solidFill>
                <a:latin typeface="Aptos"/>
                <a:ea typeface="Aptos"/>
                <a:cs typeface="Aptos"/>
              </a:rPr>
              <a:t>Predictor</a:t>
            </a:r>
            <a:endParaRPr sz="24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0D0CCC0A-866C-4C8E-8345-6F520D0FA921}"/>
              </a:ext>
            </a:extLst>
          </p:cNvPr>
          <p:cNvSpPr>
            <a:spLocks noGrp="1"/>
          </p:cNvSpPr>
          <p:nvPr/>
        </p:nvSpPr>
        <p:spPr>
          <a:xfrm>
            <a:off x="7543800" y="2743200"/>
            <a:ext cx="1143000" cy="0"/>
          </a:xfrm>
          <a:prstGeom prst="line">
            <a:avLst/>
          </a:prstGeom>
          <a:noFill/>
          <a:ln w="26670">
            <a:solidFill>
              <a:srgbClr val="D9822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00444C8-D5B0-47C8-B269-E24AC59468B4}"/>
              </a:ext>
            </a:extLst>
          </p:cNvPr>
          <p:cNvSpPr>
            <a:spLocks noGrp="1"/>
          </p:cNvSpPr>
          <p:nvPr/>
        </p:nvSpPr>
        <p:spPr>
          <a:xfrm>
            <a:off x="8823960" y="1417320"/>
            <a:ext cx="2560320" cy="457200"/>
          </a:xfrm>
          <a:prstGeom prst="rect">
            <a:avLst/>
          </a:prstGeom>
          <a:solidFill>
            <a:srgbClr val="FFF2DF"/>
          </a:solidFill>
          <a:ln w="12700">
            <a:solidFill>
              <a:srgbClr val="FFF2DF"/>
            </a:solidFill>
          </a:ln>
        </p:spPr>
        <p:txBody>
          <a:bodyPr wrap="square" lIns="1524" tIns="1524" rIns="1524" bIns="1524" anchor="ctr">
            <a:normAutofit/>
          </a:bodyPr>
          <a:lstStyle/>
          <a:p>
            <a:pPr marL="0" indent="0" algn="ctr">
              <a:buNone/>
            </a:pPr>
            <a:r>
              <a:rPr sz="1800" b="1">
                <a:solidFill>
                  <a:srgbClr val="202020"/>
                </a:solidFill>
                <a:latin typeface="Aptos"/>
                <a:ea typeface="Aptos"/>
                <a:cs typeface="Aptos"/>
              </a:rPr>
              <a:t>Output</a:t>
            </a:r>
            <a:endParaRPr sz="18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A451B12-F407-4064-BCB1-B2BE1826B8B9}"/>
              </a:ext>
            </a:extLst>
          </p:cNvPr>
          <p:cNvSpPr>
            <a:spLocks noGrp="1"/>
          </p:cNvSpPr>
          <p:nvPr/>
        </p:nvSpPr>
        <p:spPr>
          <a:xfrm>
            <a:off x="9052560" y="2057400"/>
            <a:ext cx="2057400" cy="1280160"/>
          </a:xfrm>
          <a:prstGeom prst="rect">
            <a:avLst/>
          </a:prstGeom>
          <a:noFill/>
        </p:spPr>
        <p:txBody>
          <a:bodyPr wrap="square" lIns="508" tIns="508" rIns="508" bIns="508" anchor="ctr">
            <a:normAutofit fontScale="98508"/>
          </a:bodyPr>
          <a:lstStyle/>
          <a:p>
            <a:pPr marL="0" indent="0">
              <a:buNone/>
            </a:pPr>
            <a:r>
              <a:rPr sz="1700">
                <a:solidFill>
                  <a:srgbClr val="202020"/>
                </a:solidFill>
              </a:rPr>
              <a:t>Point estimate in BHD</a:t>
            </a:r>
            <a:endParaRPr sz="1700"/>
          </a:p>
          <a:p>
            <a:pPr marL="0" indent="0">
              <a:buNone/>
            </a:pPr>
            <a:r>
              <a:rPr sz="1700">
                <a:solidFill>
                  <a:srgbClr val="202020"/>
                </a:solidFill>
              </a:rPr>
              <a:t>Calibrated 80% range</a:t>
            </a:r>
            <a:endParaRPr sz="1700"/>
          </a:p>
          <a:p>
            <a:pPr marL="0" indent="0">
              <a:buNone/>
            </a:pPr>
            <a:r>
              <a:rPr sz="1700">
                <a:solidFill>
                  <a:srgbClr val="202020"/>
                </a:solidFill>
              </a:rPr>
              <a:t>Input-quality check</a:t>
            </a:r>
            <a:endParaRPr sz="1700"/>
          </a:p>
          <a:p>
            <a:pPr marL="0" indent="0">
              <a:buNone/>
            </a:pPr>
            <a:r>
              <a:rPr sz="1700">
                <a:solidFill>
                  <a:srgbClr val="202020"/>
                </a:solidFill>
              </a:rPr>
              <a:t>3 similar tenders</a:t>
            </a:r>
            <a:endParaRPr sz="1700"/>
          </a:p>
        </p:txBody>
      </p:sp>
    </p:spTree>
    <p:extLst>
      <p:ext uri="{BB962C8B-B14F-4D97-AF65-F5344CB8AC3E}">
        <p14:creationId xmlns:p14="http://schemas.microsoft.com/office/powerpoint/2010/main" val="6650522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D09283F-F60D-431B-9AA3-2CE6B2DAFFEC}"/>
              </a:ext>
            </a:extLst>
          </p:cNvPr>
          <p:cNvSpPr>
            <a:spLocks noGrp="1"/>
          </p:cNvSpPr>
          <p:nvPr/>
        </p:nvSpPr>
        <p:spPr>
          <a:xfrm>
            <a:off x="658368" y="310896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 b="1">
                <a:solidFill>
                  <a:srgbClr val="D9822B"/>
                </a:solidFill>
                <a:latin typeface="Aptos"/>
                <a:ea typeface="Aptos"/>
                <a:cs typeface="Aptos"/>
              </a:rPr>
              <a:t>WHAT WAS PRODUCED</a:t>
            </a:r>
            <a:endParaRPr sz="85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306C084-9802-433F-A7A7-49BF492A4EE4}"/>
              </a:ext>
            </a:extLst>
          </p:cNvPr>
          <p:cNvSpPr>
            <a:spLocks noGrp="1"/>
          </p:cNvSpPr>
          <p:nvPr/>
        </p:nvSpPr>
        <p:spPr>
          <a:xfrm>
            <a:off x="621792" y="530352"/>
            <a:ext cx="777240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400" b="1">
                <a:solidFill>
                  <a:srgbClr val="12263A"/>
                </a:solidFill>
                <a:latin typeface="Aptos Display"/>
                <a:ea typeface="Aptos Display"/>
                <a:cs typeface="Aptos Display"/>
              </a:rPr>
              <a:t>From raw awards to an interactive prediction app</a:t>
            </a:r>
            <a:endParaRPr sz="24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AAED750-3FA2-4EC0-9CEF-EB9ED161D705}"/>
              </a:ext>
            </a:extLst>
          </p:cNvPr>
          <p:cNvSpPr>
            <a:spLocks noGrp="1"/>
          </p:cNvSpPr>
          <p:nvPr/>
        </p:nvSpPr>
        <p:spPr>
          <a:xfrm>
            <a:off x="621792" y="1024128"/>
            <a:ext cx="10927080" cy="0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DF788AB-7EDE-4DE4-B92B-B23104080C01}"/>
              </a:ext>
            </a:extLst>
          </p:cNvPr>
          <p:cNvSpPr>
            <a:spLocks noGrp="1"/>
          </p:cNvSpPr>
          <p:nvPr/>
        </p:nvSpPr>
        <p:spPr>
          <a:xfrm>
            <a:off x="11201400" y="384048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5F6B73"/>
                </a:solidFill>
              </a:rPr>
              <a:t>10</a:t>
            </a:r>
            <a:endParaRPr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C28AD7C-1B77-43A3-8CE2-A6A3081B0678}"/>
              </a:ext>
            </a:extLst>
          </p:cNvPr>
          <p:cNvSpPr>
            <a:spLocks noGrp="1"/>
          </p:cNvSpPr>
          <p:nvPr/>
        </p:nvSpPr>
        <p:spPr>
          <a:xfrm>
            <a:off x="914400" y="1417320"/>
            <a:ext cx="329184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000" b="1">
                <a:solidFill>
                  <a:srgbClr val="12263A"/>
                </a:solidFill>
              </a:rPr>
              <a:t>Clean historical datasets</a:t>
            </a:r>
            <a:endParaRPr sz="20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A7F0A49-B284-4D80-82DA-2D5F8C2B8219}"/>
              </a:ext>
            </a:extLst>
          </p:cNvPr>
          <p:cNvSpPr>
            <a:spLocks noGrp="1"/>
          </p:cNvSpPr>
          <p:nvPr/>
        </p:nvSpPr>
        <p:spPr>
          <a:xfrm>
            <a:off x="4480560" y="1444752"/>
            <a:ext cx="61264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50">
                <a:solidFill>
                  <a:srgbClr val="5F6B73"/>
                </a:solidFill>
              </a:rPr>
              <a:t>8,847 Tier 1 awards and 1,893 enriched modeling rows</a:t>
            </a:r>
            <a:endParaRPr sz="155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6A0C943-8635-48B0-95A7-668F819864B3}"/>
              </a:ext>
            </a:extLst>
          </p:cNvPr>
          <p:cNvSpPr>
            <a:spLocks noGrp="1"/>
          </p:cNvSpPr>
          <p:nvPr/>
        </p:nvSpPr>
        <p:spPr>
          <a:xfrm>
            <a:off x="914400" y="1984248"/>
            <a:ext cx="9966960" cy="0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55DFA0E-E076-4615-9293-47F33B089CB1}"/>
              </a:ext>
            </a:extLst>
          </p:cNvPr>
          <p:cNvSpPr>
            <a:spLocks noGrp="1"/>
          </p:cNvSpPr>
          <p:nvPr/>
        </p:nvSpPr>
        <p:spPr>
          <a:xfrm>
            <a:off x="914400" y="2377440"/>
            <a:ext cx="329184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000" b="1">
                <a:solidFill>
                  <a:srgbClr val="12263A"/>
                </a:solidFill>
              </a:rPr>
              <a:t>Pre-bid prediction model</a:t>
            </a:r>
            <a:endParaRPr sz="20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1A654CE-6F8A-4DE3-8288-4ED23D6D8D06}"/>
              </a:ext>
            </a:extLst>
          </p:cNvPr>
          <p:cNvSpPr>
            <a:spLocks noGrp="1"/>
          </p:cNvSpPr>
          <p:nvPr/>
        </p:nvSpPr>
        <p:spPr>
          <a:xfrm>
            <a:off x="4480560" y="2404872"/>
            <a:ext cx="61264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50">
                <a:solidFill>
                  <a:srgbClr val="5F6B73"/>
                </a:solidFill>
              </a:rPr>
              <a:t>uses tender text, published details and historical awards</a:t>
            </a:r>
            <a:endParaRPr sz="155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13FEC509-7170-4D9D-B230-50D129D21946}"/>
              </a:ext>
            </a:extLst>
          </p:cNvPr>
          <p:cNvSpPr>
            <a:spLocks noGrp="1"/>
          </p:cNvSpPr>
          <p:nvPr/>
        </p:nvSpPr>
        <p:spPr>
          <a:xfrm>
            <a:off x="914400" y="2944368"/>
            <a:ext cx="9966960" cy="0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98BD336-C94E-4625-BED8-4F6B96CC266F}"/>
              </a:ext>
            </a:extLst>
          </p:cNvPr>
          <p:cNvSpPr>
            <a:spLocks noGrp="1"/>
          </p:cNvSpPr>
          <p:nvPr/>
        </p:nvSpPr>
        <p:spPr>
          <a:xfrm>
            <a:off x="914400" y="3337560"/>
            <a:ext cx="329184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000" b="1">
                <a:solidFill>
                  <a:srgbClr val="12263A"/>
                </a:solidFill>
              </a:rPr>
              <a:t>Chronological evaluation</a:t>
            </a:r>
            <a:endParaRPr sz="20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8767C92-1A0B-440B-957D-0F552DADC246}"/>
              </a:ext>
            </a:extLst>
          </p:cNvPr>
          <p:cNvSpPr>
            <a:spLocks noGrp="1"/>
          </p:cNvSpPr>
          <p:nvPr/>
        </p:nvSpPr>
        <p:spPr>
          <a:xfrm>
            <a:off x="4480560" y="3364992"/>
            <a:ext cx="61264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50">
                <a:solidFill>
                  <a:srgbClr val="5F6B73"/>
                </a:solidFill>
              </a:rPr>
              <a:t>2024 model selection followed by an untouched 2025 test</a:t>
            </a:r>
            <a:endParaRPr sz="155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9DE44289-4C01-47ED-AFCC-892292C814AB}"/>
              </a:ext>
            </a:extLst>
          </p:cNvPr>
          <p:cNvSpPr>
            <a:spLocks noGrp="1"/>
          </p:cNvSpPr>
          <p:nvPr/>
        </p:nvSpPr>
        <p:spPr>
          <a:xfrm>
            <a:off x="914400" y="3904488"/>
            <a:ext cx="9966960" cy="0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BE2D178-E0F2-495D-AC23-7F442C22ACE1}"/>
              </a:ext>
            </a:extLst>
          </p:cNvPr>
          <p:cNvSpPr>
            <a:spLocks noGrp="1"/>
          </p:cNvSpPr>
          <p:nvPr/>
        </p:nvSpPr>
        <p:spPr>
          <a:xfrm>
            <a:off x="914400" y="4297680"/>
            <a:ext cx="329184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000" b="1">
                <a:solidFill>
                  <a:srgbClr val="12263A"/>
                </a:solidFill>
              </a:rPr>
              <a:t>Streamlit decision-support app</a:t>
            </a:r>
            <a:endParaRPr sz="20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D0A60C8-F6BD-4DEC-891D-7AA86D0EA59E}"/>
              </a:ext>
            </a:extLst>
          </p:cNvPr>
          <p:cNvSpPr>
            <a:spLocks noGrp="1"/>
          </p:cNvSpPr>
          <p:nvPr/>
        </p:nvSpPr>
        <p:spPr>
          <a:xfrm>
            <a:off x="4480560" y="4325112"/>
            <a:ext cx="61264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50">
                <a:solidFill>
                  <a:srgbClr val="5F6B73"/>
                </a:solidFill>
              </a:rPr>
              <a:t>estimate, 80% range, quality check and similar tenders</a:t>
            </a:r>
            <a:endParaRPr sz="155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AFF6E7C7-2BE1-4C01-B627-CF6383675589}"/>
              </a:ext>
            </a:extLst>
          </p:cNvPr>
          <p:cNvSpPr>
            <a:spLocks noGrp="1"/>
          </p:cNvSpPr>
          <p:nvPr/>
        </p:nvSpPr>
        <p:spPr>
          <a:xfrm>
            <a:off x="914400" y="4864608"/>
            <a:ext cx="9966960" cy="0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43846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0124B42-F560-47F8-AECF-C43A6EDA4755}"/>
              </a:ext>
            </a:extLst>
          </p:cNvPr>
          <p:cNvSpPr>
            <a:spLocks noGrp="1"/>
          </p:cNvSpPr>
          <p:nvPr/>
        </p:nvSpPr>
        <p:spPr>
          <a:xfrm>
            <a:off x="658368" y="310896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 b="1">
                <a:solidFill>
                  <a:srgbClr val="D9822B"/>
                </a:solidFill>
                <a:latin typeface="Aptos"/>
                <a:ea typeface="Aptos"/>
                <a:cs typeface="Aptos"/>
              </a:rPr>
              <a:t>EVALUATION HONESTY</a:t>
            </a:r>
            <a:endParaRPr sz="85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F1C7727-6181-488E-9490-43BC8EA7C56A}"/>
              </a:ext>
            </a:extLst>
          </p:cNvPr>
          <p:cNvSpPr>
            <a:spLocks noGrp="1"/>
          </p:cNvSpPr>
          <p:nvPr/>
        </p:nvSpPr>
        <p:spPr>
          <a:xfrm>
            <a:off x="621792" y="530352"/>
            <a:ext cx="777240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400" b="1">
                <a:solidFill>
                  <a:srgbClr val="12263A"/>
                </a:solidFill>
                <a:latin typeface="Aptos Display"/>
                <a:ea typeface="Aptos Display"/>
                <a:cs typeface="Aptos Display"/>
              </a:rPr>
              <a:t>Limitations and risks</a:t>
            </a:r>
            <a:endParaRPr sz="24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878DEFA-EBB2-4DE7-8908-451625745DB4}"/>
              </a:ext>
            </a:extLst>
          </p:cNvPr>
          <p:cNvSpPr>
            <a:spLocks noGrp="1"/>
          </p:cNvSpPr>
          <p:nvPr/>
        </p:nvSpPr>
        <p:spPr>
          <a:xfrm>
            <a:off x="621792" y="1024128"/>
            <a:ext cx="10927080" cy="0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B44C2B5-EE31-4461-9E88-FC47EDC7E2BF}"/>
              </a:ext>
            </a:extLst>
          </p:cNvPr>
          <p:cNvSpPr>
            <a:spLocks noGrp="1"/>
          </p:cNvSpPr>
          <p:nvPr/>
        </p:nvSpPr>
        <p:spPr>
          <a:xfrm>
            <a:off x="11201400" y="384048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5F6B73"/>
                </a:solidFill>
              </a:rPr>
              <a:t>11</a:t>
            </a:r>
            <a:endParaRPr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8BA3A93-9FE6-49FE-9A40-404C39B9D81E}"/>
              </a:ext>
            </a:extLst>
          </p:cNvPr>
          <p:cNvSpPr>
            <a:spLocks noGrp="1"/>
          </p:cNvSpPr>
          <p:nvPr/>
        </p:nvSpPr>
        <p:spPr>
          <a:xfrm>
            <a:off x="960120" y="1463040"/>
            <a:ext cx="5669280" cy="3291840"/>
          </a:xfrm>
          <a:prstGeom prst="rect">
            <a:avLst/>
          </a:prstGeom>
          <a:noFill/>
        </p:spPr>
        <p:txBody>
          <a:bodyPr wrap="square" lIns="1016" tIns="1016" rIns="1016" bIns="1016" anchor="ctr">
            <a:normAutofit/>
          </a:bodyPr>
          <a:lstStyle/>
          <a:p>
            <a:r>
              <a:rPr sz="1800">
                <a:solidFill>
                  <a:srgbClr val="202020"/>
                </a:solidFill>
              </a:rPr>
              <a:t>Detailed archive information is unavailable for some older tenders.</a:t>
            </a:r>
            <a:endParaRPr sz="1800"/>
          </a:p>
          <a:p>
            <a:r>
              <a:rPr sz="1800">
                <a:solidFill>
                  <a:srgbClr val="202020"/>
                </a:solidFill>
              </a:rPr>
              <a:t>Market conditions and bidder strategy are not fully observable.</a:t>
            </a:r>
            <a:endParaRPr sz="1800"/>
          </a:p>
          <a:p>
            <a:r>
              <a:rPr sz="1800">
                <a:solidFill>
                  <a:srgbClr val="202020"/>
                </a:solidFill>
              </a:rPr>
              <a:t>Unusual one-off tenders remain difficult to predict.</a:t>
            </a:r>
            <a:endParaRPr sz="1800"/>
          </a:p>
          <a:p>
            <a:r>
              <a:rPr sz="1800">
                <a:solidFill>
                  <a:srgbClr val="202020"/>
                </a:solidFill>
              </a:rPr>
              <a:t>The 80% range is a benchmark, not a winning guarantee.</a:t>
            </a:r>
            <a:endParaRPr sz="1800"/>
          </a:p>
          <a:p>
            <a:r>
              <a:rPr sz="1800">
                <a:solidFill>
                  <a:srgbClr val="202020"/>
                </a:solidFill>
              </a:rPr>
              <a:t>Post-bid information must always remain outside the inputs.</a:t>
            </a:r>
            <a:endParaRPr sz="18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909E937-7BB7-4C19-A537-7A5C15ECACA6}"/>
              </a:ext>
            </a:extLst>
          </p:cNvPr>
          <p:cNvSpPr>
            <a:spLocks noGrp="1"/>
          </p:cNvSpPr>
          <p:nvPr/>
        </p:nvSpPr>
        <p:spPr>
          <a:xfrm>
            <a:off x="7086600" y="1691640"/>
            <a:ext cx="3566160" cy="2468880"/>
          </a:xfrm>
          <a:prstGeom prst="rect">
            <a:avLst/>
          </a:prstGeom>
          <a:solidFill>
            <a:srgbClr val="FFF2DF"/>
          </a:solidFill>
          <a:ln w="12700">
            <a:solidFill>
              <a:srgbClr val="FFF2DF"/>
            </a:solidFill>
          </a:ln>
        </p:spPr>
        <p:txBody>
          <a:bodyPr wrap="square" lIns="1524" tIns="1524" rIns="1524" bIns="1524" anchor="ctr">
            <a:normAutofit/>
          </a:bodyPr>
          <a:lstStyle/>
          <a:p>
            <a:pPr marL="0" indent="0" algn="ctr">
              <a:buNone/>
            </a:pPr>
            <a:r>
              <a:rPr sz="1900" b="1">
                <a:solidFill>
                  <a:srgbClr val="202020"/>
                </a:solidFill>
                <a:latin typeface="Aptos"/>
                <a:ea typeface="Aptos"/>
                <a:cs typeface="Aptos"/>
              </a:rPr>
              <a:t>Future work</a:t>
            </a:r>
            <a:endParaRPr sz="1900"/>
          </a:p>
          <a:p>
            <a:pPr marL="0" indent="0" algn="ctr">
              <a:buNone/>
            </a:pPr>
            <a:r>
              <a:rPr sz="1900" b="1">
                <a:solidFill>
                  <a:srgbClr val="202020"/>
                </a:solidFill>
                <a:latin typeface="Aptos"/>
                <a:ea typeface="Aptos"/>
                <a:cs typeface="Aptos"/>
              </a:rPr>
              <a:t>add new awards and details</a:t>
            </a:r>
            <a:endParaRPr sz="1900"/>
          </a:p>
          <a:p>
            <a:pPr marL="0" indent="0" algn="ctr">
              <a:buNone/>
            </a:pPr>
            <a:r>
              <a:rPr sz="1900" b="1">
                <a:solidFill>
                  <a:srgbClr val="202020"/>
                </a:solidFill>
                <a:latin typeface="Aptos"/>
                <a:ea typeface="Aptos"/>
                <a:cs typeface="Aptos"/>
              </a:rPr>
              <a:t>when they are published,</a:t>
            </a:r>
            <a:endParaRPr sz="1900"/>
          </a:p>
          <a:p>
            <a:pPr marL="0" indent="0" algn="ctr">
              <a:buNone/>
            </a:pPr>
            <a:r>
              <a:rPr sz="1900" b="1">
                <a:solidFill>
                  <a:srgbClr val="202020"/>
                </a:solidFill>
                <a:latin typeface="Aptos"/>
                <a:ea typeface="Aptos"/>
                <a:cs typeface="Aptos"/>
              </a:rPr>
              <a:t>test category-specific models,</a:t>
            </a:r>
            <a:endParaRPr sz="1900"/>
          </a:p>
          <a:p>
            <a:pPr marL="0" indent="0" algn="ctr">
              <a:buNone/>
            </a:pPr>
            <a:r>
              <a:rPr sz="1900" b="1">
                <a:solidFill>
                  <a:srgbClr val="202020"/>
                </a:solidFill>
                <a:latin typeface="Aptos"/>
                <a:ea typeface="Aptos"/>
                <a:cs typeface="Aptos"/>
              </a:rPr>
              <a:t>monitor performance drift,</a:t>
            </a:r>
            <a:endParaRPr sz="1900"/>
          </a:p>
          <a:p>
            <a:pPr marL="0" indent="0" algn="ctr">
              <a:buNone/>
            </a:pPr>
            <a:r>
              <a:rPr sz="1900" b="1">
                <a:solidFill>
                  <a:srgbClr val="202020"/>
                </a:solidFill>
                <a:latin typeface="Aptos"/>
                <a:ea typeface="Aptos"/>
                <a:cs typeface="Aptos"/>
              </a:rPr>
              <a:t>and evaluate deployment.</a:t>
            </a:r>
            <a:endParaRPr sz="1900"/>
          </a:p>
        </p:txBody>
      </p:sp>
    </p:spTree>
    <p:extLst>
      <p:ext uri="{BB962C8B-B14F-4D97-AF65-F5344CB8AC3E}">
        <p14:creationId xmlns:p14="http://schemas.microsoft.com/office/powerpoint/2010/main" val="11462647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17C20FE-43FB-4771-AA2C-1801239E2E6A}"/>
              </a:ext>
            </a:extLst>
          </p:cNvPr>
          <p:cNvSpPr>
            <a:spLocks noGrp="1"/>
          </p:cNvSpPr>
          <p:nvPr/>
        </p:nvSpPr>
        <p:spPr>
          <a:xfrm>
            <a:off x="658368" y="310896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 b="1">
                <a:solidFill>
                  <a:srgbClr val="D9822B"/>
                </a:solidFill>
                <a:latin typeface="Aptos"/>
                <a:ea typeface="Aptos"/>
                <a:cs typeface="Aptos"/>
              </a:rPr>
              <a:t>CONCLUSION</a:t>
            </a:r>
            <a:endParaRPr sz="85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8EB6EB4-27F5-4FE4-8123-E1DB95455872}"/>
              </a:ext>
            </a:extLst>
          </p:cNvPr>
          <p:cNvSpPr>
            <a:spLocks noGrp="1"/>
          </p:cNvSpPr>
          <p:nvPr/>
        </p:nvSpPr>
        <p:spPr>
          <a:xfrm>
            <a:off x="621792" y="530352"/>
            <a:ext cx="777240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400" b="1">
                <a:solidFill>
                  <a:srgbClr val="12263A"/>
                </a:solidFill>
                <a:latin typeface="Aptos Display"/>
                <a:ea typeface="Aptos Display"/>
                <a:cs typeface="Aptos Display"/>
              </a:rPr>
              <a:t>Recommendation: use the model as a benchmark</a:t>
            </a:r>
            <a:endParaRPr sz="24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88222D1-ADAC-46CF-9A15-95A49C5A7C57}"/>
              </a:ext>
            </a:extLst>
          </p:cNvPr>
          <p:cNvSpPr>
            <a:spLocks noGrp="1"/>
          </p:cNvSpPr>
          <p:nvPr/>
        </p:nvSpPr>
        <p:spPr>
          <a:xfrm>
            <a:off x="621792" y="1024128"/>
            <a:ext cx="10927080" cy="0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C5CDA66-E257-4927-BA93-B6CC4EA1BE36}"/>
              </a:ext>
            </a:extLst>
          </p:cNvPr>
          <p:cNvSpPr>
            <a:spLocks noGrp="1"/>
          </p:cNvSpPr>
          <p:nvPr/>
        </p:nvSpPr>
        <p:spPr>
          <a:xfrm>
            <a:off x="11201400" y="384048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5F6B73"/>
                </a:solidFill>
              </a:rPr>
              <a:t>12</a:t>
            </a:r>
            <a:endParaRPr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01E81F6-E6CC-4411-93C2-AC45A909AA0B}"/>
              </a:ext>
            </a:extLst>
          </p:cNvPr>
          <p:cNvSpPr>
            <a:spLocks noGrp="1"/>
          </p:cNvSpPr>
          <p:nvPr/>
        </p:nvSpPr>
        <p:spPr>
          <a:xfrm>
            <a:off x="868680" y="150876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 b="1">
                <a:solidFill>
                  <a:srgbClr val="12263A"/>
                </a:solidFill>
              </a:rPr>
              <a:t>For bidders</a:t>
            </a:r>
            <a:endParaRPr sz="22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D1BA4CA-ACF1-4BCD-B3F8-AB01A88A8714}"/>
              </a:ext>
            </a:extLst>
          </p:cNvPr>
          <p:cNvSpPr>
            <a:spLocks noGrp="1"/>
          </p:cNvSpPr>
          <p:nvPr/>
        </p:nvSpPr>
        <p:spPr>
          <a:xfrm>
            <a:off x="896112" y="1965960"/>
            <a:ext cx="3657600" cy="1097280"/>
          </a:xfrm>
          <a:prstGeom prst="rect">
            <a:avLst/>
          </a:prstGeom>
          <a:noFill/>
        </p:spPr>
        <p:txBody>
          <a:bodyPr wrap="square" lIns="1016" tIns="1016" rIns="1016" bIns="1016" anchor="ctr">
            <a:normAutofit/>
          </a:bodyPr>
          <a:lstStyle/>
          <a:p>
            <a:r>
              <a:rPr sz="1600">
                <a:solidFill>
                  <a:srgbClr val="202020"/>
                </a:solidFill>
              </a:rPr>
              <a:t>Compare the planned bid with the estimate and 80% range.</a:t>
            </a:r>
            <a:endParaRPr sz="1600"/>
          </a:p>
          <a:p>
            <a:r>
              <a:rPr sz="1600">
                <a:solidFill>
                  <a:srgbClr val="202020"/>
                </a:solidFill>
              </a:rPr>
              <a:t>Review three similar historical tenders.</a:t>
            </a:r>
            <a:endParaRPr sz="16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3B43F5A-7379-4F35-B19C-E85733EE7045}"/>
              </a:ext>
            </a:extLst>
          </p:cNvPr>
          <p:cNvSpPr>
            <a:spLocks noGrp="1"/>
          </p:cNvSpPr>
          <p:nvPr/>
        </p:nvSpPr>
        <p:spPr>
          <a:xfrm>
            <a:off x="4572000" y="150876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 b="1">
                <a:solidFill>
                  <a:srgbClr val="12263A"/>
                </a:solidFill>
              </a:rPr>
              <a:t>For model improvement</a:t>
            </a:r>
            <a:endParaRPr sz="22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A103EA5-7316-4660-8059-08912C1EF57D}"/>
              </a:ext>
            </a:extLst>
          </p:cNvPr>
          <p:cNvSpPr>
            <a:spLocks noGrp="1"/>
          </p:cNvSpPr>
          <p:nvPr/>
        </p:nvSpPr>
        <p:spPr>
          <a:xfrm>
            <a:off x="4590288" y="1965960"/>
            <a:ext cx="3291840" cy="1097280"/>
          </a:xfrm>
          <a:prstGeom prst="rect">
            <a:avLst/>
          </a:prstGeom>
          <a:noFill/>
        </p:spPr>
        <p:txBody>
          <a:bodyPr wrap="square" lIns="1016" tIns="1016" rIns="1016" bIns="1016" anchor="ctr">
            <a:normAutofit/>
          </a:bodyPr>
          <a:lstStyle/>
          <a:p>
            <a:r>
              <a:rPr sz="1600">
                <a:solidFill>
                  <a:srgbClr val="202020"/>
                </a:solidFill>
              </a:rPr>
              <a:t>Add new awards regularly.</a:t>
            </a:r>
            <a:endParaRPr sz="1600"/>
          </a:p>
          <a:p>
            <a:r>
              <a:rPr sz="1600">
                <a:solidFill>
                  <a:srgbClr val="202020"/>
                </a:solidFill>
              </a:rPr>
              <a:t>Monitor accuracy and range coverage.</a:t>
            </a:r>
            <a:endParaRPr sz="16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2D1F8DA-D2C9-4E4B-8A70-D38B988A4B0A}"/>
              </a:ext>
            </a:extLst>
          </p:cNvPr>
          <p:cNvSpPr>
            <a:spLocks noGrp="1"/>
          </p:cNvSpPr>
          <p:nvPr/>
        </p:nvSpPr>
        <p:spPr>
          <a:xfrm>
            <a:off x="8275320" y="150876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 b="1">
                <a:solidFill>
                  <a:srgbClr val="12263A"/>
                </a:solidFill>
              </a:rPr>
              <a:t>For deployment</a:t>
            </a:r>
            <a:endParaRPr sz="22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044090C-0D68-4EB1-B091-CDD0A2F3BA6F}"/>
              </a:ext>
            </a:extLst>
          </p:cNvPr>
          <p:cNvSpPr>
            <a:spLocks noGrp="1"/>
          </p:cNvSpPr>
          <p:nvPr/>
        </p:nvSpPr>
        <p:spPr>
          <a:xfrm>
            <a:off x="8293608" y="1965960"/>
            <a:ext cx="2926080" cy="1097280"/>
          </a:xfrm>
          <a:prstGeom prst="rect">
            <a:avLst/>
          </a:prstGeom>
          <a:noFill/>
        </p:spPr>
        <p:txBody>
          <a:bodyPr wrap="square" lIns="1016" tIns="1016" rIns="1016" bIns="1016" anchor="ctr">
            <a:normAutofit/>
          </a:bodyPr>
          <a:lstStyle/>
          <a:p>
            <a:r>
              <a:rPr sz="1600">
                <a:solidFill>
                  <a:srgbClr val="202020"/>
                </a:solidFill>
              </a:rPr>
              <a:t>Use the Streamlit app as a decision-support prototype.</a:t>
            </a:r>
            <a:endParaRPr sz="1600"/>
          </a:p>
          <a:p>
            <a:r>
              <a:rPr sz="1600">
                <a:solidFill>
                  <a:srgbClr val="202020"/>
                </a:solidFill>
              </a:rPr>
              <a:t>Retrain only after validation.</a:t>
            </a:r>
            <a:endParaRPr sz="16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AECDEDD-784E-4EF3-BEF1-83D7C5477F3A}"/>
              </a:ext>
            </a:extLst>
          </p:cNvPr>
          <p:cNvSpPr>
            <a:spLocks noGrp="1"/>
          </p:cNvSpPr>
          <p:nvPr/>
        </p:nvSpPr>
        <p:spPr>
          <a:xfrm>
            <a:off x="2377440" y="4663440"/>
            <a:ext cx="7498080" cy="868680"/>
          </a:xfrm>
          <a:prstGeom prst="rect">
            <a:avLst/>
          </a:prstGeom>
          <a:solidFill>
            <a:srgbClr val="12263A"/>
          </a:solidFill>
          <a:ln w="12700">
            <a:solidFill>
              <a:srgbClr val="12263A"/>
            </a:solidFill>
          </a:ln>
        </p:spPr>
        <p:txBody>
          <a:bodyPr wrap="square" lIns="1524" tIns="1524" rIns="1524" bIns="1524" anchor="ctr">
            <a:normAutofit lnSpcReduction="10000"/>
          </a:bodyPr>
          <a:lstStyle/>
          <a:p>
            <a:pPr marL="0" indent="0" algn="ctr">
              <a:buNone/>
            </a:pPr>
            <a:r>
              <a:rPr sz="3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model supports judgment.</a:t>
            </a:r>
            <a:endParaRPr sz="3000"/>
          </a:p>
          <a:p>
            <a:pPr marL="0" indent="0" algn="ctr">
              <a:buNone/>
            </a:pPr>
            <a:r>
              <a:rPr sz="3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It does not replace it.</a:t>
            </a:r>
            <a:endParaRPr sz="30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1E4258BF-966D-47F7-87FD-BB2DCE6BFA46}"/>
              </a:ext>
            </a:extLst>
          </p:cNvPr>
          <p:cNvSpPr>
            <a:spLocks noGrp="1"/>
          </p:cNvSpPr>
          <p:nvPr/>
        </p:nvSpPr>
        <p:spPr>
          <a:xfrm>
            <a:off x="4663440" y="5989320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>
                <a:solidFill>
                  <a:srgbClr val="5F6B73"/>
                </a:solidFill>
              </a:rPr>
              <a:t>Thank you</a:t>
            </a: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3212136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91F335C-3408-4A49-A5FE-D765C1196CC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7A64DBC-4EDD-4415-990F-E356758481B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880360" cy="6858000"/>
          </a:xfrm>
          <a:prstGeom prst="rect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44E8D2E-D642-446A-8F07-EA1195763D73}"/>
              </a:ext>
            </a:extLst>
          </p:cNvPr>
          <p:cNvSpPr>
            <a:spLocks noGrp="1"/>
          </p:cNvSpPr>
          <p:nvPr/>
        </p:nvSpPr>
        <p:spPr>
          <a:xfrm>
            <a:off x="3383280" y="1188720"/>
            <a:ext cx="6675120" cy="1600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4200" b="1">
                <a:solidFill>
                  <a:srgbClr val="12263A"/>
                </a:solidFill>
                <a:latin typeface="Aptos Display"/>
                <a:ea typeface="Aptos Display"/>
                <a:cs typeface="Aptos Display"/>
              </a:rPr>
              <a:t>Live</a:t>
            </a:r>
            <a:endParaRPr sz="4200"/>
          </a:p>
          <a:p>
            <a:pPr marL="0" indent="0">
              <a:buNone/>
            </a:pPr>
            <a:r>
              <a:rPr sz="4200" b="1">
                <a:solidFill>
                  <a:srgbClr val="12263A"/>
                </a:solidFill>
                <a:latin typeface="Aptos Display"/>
                <a:ea typeface="Aptos Display"/>
                <a:cs typeface="Aptos Display"/>
              </a:rPr>
              <a:t>Demonstration</a:t>
            </a:r>
            <a:endParaRPr sz="4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34647C0-591A-4C89-B403-AFF7E4ABB03A}"/>
              </a:ext>
            </a:extLst>
          </p:cNvPr>
          <p:cNvSpPr>
            <a:spLocks noGrp="1"/>
          </p:cNvSpPr>
          <p:nvPr/>
        </p:nvSpPr>
        <p:spPr>
          <a:xfrm>
            <a:off x="3581400" y="4069079"/>
            <a:ext cx="713232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2000" dirty="0">
                <a:solidFill>
                  <a:srgbClr val="1F5E8C"/>
                </a:solidFill>
                <a:hlinkClick r:id="rId3"/>
              </a:rPr>
              <a:t>https://governmenttenderbidpredictor.streamlit.app/</a:t>
            </a:r>
            <a:endParaRPr lang="en-US" sz="2000" dirty="0">
              <a:solidFill>
                <a:srgbClr val="1F5E8C"/>
              </a:solidFill>
            </a:endParaRPr>
          </a:p>
          <a:p>
            <a:endParaRPr lang="en-US" sz="2000" dirty="0">
              <a:solidFill>
                <a:srgbClr val="1F5E8C"/>
              </a:solidFill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4365215-EB65-4381-9D6B-AE01C722ECAE}"/>
              </a:ext>
            </a:extLst>
          </p:cNvPr>
          <p:cNvSpPr>
            <a:spLocks noGrp="1"/>
          </p:cNvSpPr>
          <p:nvPr/>
        </p:nvSpPr>
        <p:spPr>
          <a:xfrm>
            <a:off x="3456432" y="5257800"/>
            <a:ext cx="530352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50">
                <a:solidFill>
                  <a:srgbClr val="5F6B73"/>
                </a:solidFill>
              </a:rPr>
              <a:t>Questions will follow the demonstration</a:t>
            </a:r>
            <a:endParaRPr sz="145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611F536-252A-448E-AB1F-65996E16171B}"/>
              </a:ext>
            </a:extLst>
          </p:cNvPr>
          <p:cNvSpPr>
            <a:spLocks noGrp="1"/>
          </p:cNvSpPr>
          <p:nvPr/>
        </p:nvSpPr>
        <p:spPr>
          <a:xfrm>
            <a:off x="3429000" y="3794760"/>
            <a:ext cx="4480560" cy="0"/>
          </a:xfrm>
          <a:prstGeom prst="line">
            <a:avLst/>
          </a:prstGeom>
          <a:noFill/>
          <a:ln w="50800">
            <a:solidFill>
              <a:srgbClr val="D982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F97386D-351E-405A-B033-920D3CE36946}"/>
              </a:ext>
            </a:extLst>
          </p:cNvPr>
          <p:cNvSpPr>
            <a:spLocks noGrp="1"/>
          </p:cNvSpPr>
          <p:nvPr/>
        </p:nvSpPr>
        <p:spPr>
          <a:xfrm>
            <a:off x="475488" y="5870448"/>
            <a:ext cx="187452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343E56AA-53EF-14D0-6AAC-CFF96FA702B3}"/>
              </a:ext>
            </a:extLst>
          </p:cNvPr>
          <p:cNvSpPr>
            <a:spLocks noGrp="1"/>
          </p:cNvSpPr>
          <p:nvPr/>
        </p:nvSpPr>
        <p:spPr>
          <a:xfrm>
            <a:off x="3581400" y="3124200"/>
            <a:ext cx="713232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000" dirty="0">
                <a:solidFill>
                  <a:srgbClr val="1F5E8C"/>
                </a:solidFill>
              </a:rPr>
              <a:t>Let’s see how the predictor evaluates a new tender.</a:t>
            </a:r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3188395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723</Words>
  <Application>Microsoft Office PowerPoint</Application>
  <DocSecurity>0</DocSecurity>
  <PresentationFormat>Widescreen</PresentationFormat>
  <Paragraphs>170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Ahmed Meshaima</cp:lastModifiedBy>
  <cp:revision>3</cp:revision>
  <dcterms:created xsi:type="dcterms:W3CDTF">2026-08-29T09:18:54Z</dcterms:created>
  <dcterms:modified xsi:type="dcterms:W3CDTF">2026-08-29T09:43:58Z</dcterms:modified>
</cp:coreProperties>
</file>