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overnmenttenderbidpredictor.streamlit.app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1F335C-3408-4A49-A5FE-D765C1196CCA}"/>
              </a:ext>
            </a:extLst>
          </p:cNvPr>
          <p:cNvSpPr>
            <a:spLocks noGrp="1"/>
          </p:cNvSpPr>
          <p:nvPr/>
        </p:nvSpPr>
        <p:spPr>
          <a:xfrm>
            <a:off x="0" y="19456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A64DBC-4EDD-4415-990F-E356758481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80360" cy="685800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4E8D2E-D642-446A-8F07-EA1195763D73}"/>
              </a:ext>
            </a:extLst>
          </p:cNvPr>
          <p:cNvSpPr>
            <a:spLocks noGrp="1"/>
          </p:cNvSpPr>
          <p:nvPr/>
        </p:nvSpPr>
        <p:spPr>
          <a:xfrm>
            <a:off x="3383280" y="1104900"/>
            <a:ext cx="6675120" cy="1600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4200" b="1" dirty="0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Tender Bid</a:t>
            </a:r>
            <a:endParaRPr sz="4200" dirty="0"/>
          </a:p>
          <a:p>
            <a:pPr marL="0" indent="0">
              <a:buNone/>
            </a:pPr>
            <a:r>
              <a:rPr sz="4200" b="1" dirty="0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Predictor</a:t>
            </a:r>
            <a:endParaRPr sz="4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4647C0-591A-4C89-B403-AFF7E4ABB03A}"/>
              </a:ext>
            </a:extLst>
          </p:cNvPr>
          <p:cNvSpPr>
            <a:spLocks noGrp="1"/>
          </p:cNvSpPr>
          <p:nvPr/>
        </p:nvSpPr>
        <p:spPr>
          <a:xfrm>
            <a:off x="3429000" y="2952750"/>
            <a:ext cx="533400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>
                <a:solidFill>
                  <a:srgbClr val="1F5E8C"/>
                </a:solidFill>
              </a:rPr>
              <a:t>Uses historical awards to estimate a competitive winning bid. The app adds an 80% range and similar Bahrain tenders for context.</a:t>
            </a:r>
            <a:endParaRPr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365215-EB65-4381-9D6B-AE01C722ECAE}"/>
              </a:ext>
            </a:extLst>
          </p:cNvPr>
          <p:cNvSpPr>
            <a:spLocks noGrp="1"/>
          </p:cNvSpPr>
          <p:nvPr/>
        </p:nvSpPr>
        <p:spPr>
          <a:xfrm>
            <a:off x="3456432" y="4953000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>
                <a:solidFill>
                  <a:srgbClr val="5F6B73"/>
                </a:solidFill>
              </a:rPr>
              <a:t>Ahmed Jawad</a:t>
            </a:r>
            <a:endParaRPr sz="14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611F536-252A-448E-AB1F-65996E16171B}"/>
              </a:ext>
            </a:extLst>
          </p:cNvPr>
          <p:cNvSpPr>
            <a:spLocks noGrp="1"/>
          </p:cNvSpPr>
          <p:nvPr/>
        </p:nvSpPr>
        <p:spPr>
          <a:xfrm>
            <a:off x="3429000" y="4381500"/>
            <a:ext cx="5334000" cy="0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97386D-351E-405A-B033-920D3CE36946}"/>
              </a:ext>
            </a:extLst>
          </p:cNvPr>
          <p:cNvSpPr>
            <a:spLocks noGrp="1"/>
          </p:cNvSpPr>
          <p:nvPr/>
        </p:nvSpPr>
        <p:spPr>
          <a:xfrm>
            <a:off x="475488" y="5870448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9" name="Cover Project Number">
            <a:extLst>
              <a:ext uri="{FF2B5EF4-FFF2-40B4-BE49-F238E27FC236}">
                <a16:creationId xmlns:a16="http://schemas.microsoft.com/office/drawing/2014/main" id="{360DE26D-21AF-4D6B-B568-4F0868CC322E}"/>
              </a:ext>
            </a:extLst>
          </p:cNvPr>
          <p:cNvSpPr>
            <a:spLocks noGrp="1"/>
          </p:cNvSpPr>
          <p:nvPr/>
        </p:nvSpPr>
        <p:spPr>
          <a:xfrm>
            <a:off x="3429000" y="5524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D982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PROJECT #02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48750" y="2857659"/>
            <a:ext cx="2190750" cy="272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9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1F335C-3408-4A49-A5FE-D765C1196C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A64DBC-4EDD-4415-990F-E356758481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80360" cy="685800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4E8D2E-D642-446A-8F07-EA1195763D73}"/>
              </a:ext>
            </a:extLst>
          </p:cNvPr>
          <p:cNvSpPr>
            <a:spLocks noGrp="1"/>
          </p:cNvSpPr>
          <p:nvPr/>
        </p:nvSpPr>
        <p:spPr>
          <a:xfrm>
            <a:off x="3383280" y="1188720"/>
            <a:ext cx="6675120" cy="16002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>
              <a:buNone/>
            </a:pPr>
            <a:r>
              <a:rPr sz="4200" b="1" dirty="0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Government</a:t>
            </a:r>
            <a:endParaRPr sz="4200" dirty="0"/>
          </a:p>
          <a:p>
            <a:pPr marL="0" indent="0">
              <a:buNone/>
            </a:pPr>
            <a:r>
              <a:rPr sz="4200" b="1" dirty="0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Tender Bid</a:t>
            </a:r>
            <a:endParaRPr sz="4200" dirty="0"/>
          </a:p>
          <a:p>
            <a:pPr marL="0" indent="0">
              <a:buNone/>
            </a:pPr>
            <a:r>
              <a:rPr sz="4200" b="1" dirty="0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Predictor</a:t>
            </a:r>
            <a:endParaRPr sz="4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4647C0-591A-4C89-B403-AFF7E4ABB03A}"/>
              </a:ext>
            </a:extLst>
          </p:cNvPr>
          <p:cNvSpPr>
            <a:spLocks noGrp="1"/>
          </p:cNvSpPr>
          <p:nvPr/>
        </p:nvSpPr>
        <p:spPr>
          <a:xfrm>
            <a:off x="3429000" y="2971800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>
                <a:solidFill>
                  <a:srgbClr val="1F5E8C"/>
                </a:solidFill>
              </a:rPr>
              <a:t>Predicting a competitive winning-bid range before prices are visible</a:t>
            </a:r>
            <a:endParaRPr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365215-EB65-4381-9D6B-AE01C722ECAE}"/>
              </a:ext>
            </a:extLst>
          </p:cNvPr>
          <p:cNvSpPr>
            <a:spLocks noGrp="1"/>
          </p:cNvSpPr>
          <p:nvPr/>
        </p:nvSpPr>
        <p:spPr>
          <a:xfrm>
            <a:off x="3456432" y="5257800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>
                <a:solidFill>
                  <a:srgbClr val="5F6B73"/>
                </a:solidFill>
              </a:rPr>
              <a:t>Ahmed Jawad</a:t>
            </a:r>
            <a:endParaRPr sz="14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611F536-252A-448E-AB1F-65996E16171B}"/>
              </a:ext>
            </a:extLst>
          </p:cNvPr>
          <p:cNvSpPr>
            <a:spLocks noGrp="1"/>
          </p:cNvSpPr>
          <p:nvPr/>
        </p:nvSpPr>
        <p:spPr>
          <a:xfrm>
            <a:off x="3429000" y="3794760"/>
            <a:ext cx="4480560" cy="0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97386D-351E-405A-B033-920D3CE36946}"/>
              </a:ext>
            </a:extLst>
          </p:cNvPr>
          <p:cNvSpPr>
            <a:spLocks noGrp="1"/>
          </p:cNvSpPr>
          <p:nvPr/>
        </p:nvSpPr>
        <p:spPr>
          <a:xfrm>
            <a:off x="475488" y="5870448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1883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>
            <a:extLst>
              <a:ext uri="{FF2B5EF4-FFF2-40B4-BE49-F238E27FC236}">
                <a16:creationId xmlns:a16="http://schemas.microsoft.com/office/drawing/2014/main" id="{8C7DB263-E32B-4424-82D5-A1DBFCB155A8}"/>
              </a:ext>
            </a:extLst>
          </p:cNvPr>
          <p:cNvSpPr>
            <a:spLocks noGrp="1"/>
          </p:cNvSpPr>
          <p:nvPr/>
        </p:nvSpPr>
        <p:spPr>
          <a:xfrm>
            <a:off x="987552" y="1874520"/>
            <a:ext cx="0" cy="3291840"/>
          </a:xfrm>
          <a:prstGeom prst="line">
            <a:avLst/>
          </a:prstGeom>
          <a:noFill/>
          <a:ln w="1905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FC1750-2713-4F92-8F3D-BF4F8EE81CD4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Agenda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71C02D-BA52-4FD4-8793-F78FF77622C1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99333F-B38F-4A53-80DB-510A28050CEB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66EE7B-D2B0-4393-BA78-7161466E653C}"/>
              </a:ext>
            </a:extLst>
          </p:cNvPr>
          <p:cNvSpPr>
            <a:spLocks noGrp="1"/>
          </p:cNvSpPr>
          <p:nvPr/>
        </p:nvSpPr>
        <p:spPr>
          <a:xfrm>
            <a:off x="777240" y="1481328"/>
            <a:ext cx="420624" cy="42062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1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90BEE8-8886-46C0-AFC5-47DDDE42BF62}"/>
              </a:ext>
            </a:extLst>
          </p:cNvPr>
          <p:cNvSpPr>
            <a:spLocks noGrp="1"/>
          </p:cNvSpPr>
          <p:nvPr/>
        </p:nvSpPr>
        <p:spPr>
          <a:xfrm>
            <a:off x="1417320" y="146304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Business problem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D021E3-0D0F-4722-8664-58AB80F9A79A}"/>
              </a:ext>
            </a:extLst>
          </p:cNvPr>
          <p:cNvSpPr>
            <a:spLocks noGrp="1"/>
          </p:cNvSpPr>
          <p:nvPr/>
        </p:nvSpPr>
        <p:spPr>
          <a:xfrm>
            <a:off x="1417320" y="1773936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>
                <a:solidFill>
                  <a:srgbClr val="5F6B73"/>
                </a:solidFill>
              </a:rPr>
              <a:t>Why bidding price matters</a:t>
            </a:r>
            <a:endParaRPr sz="13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B84A60-4FEF-4B1A-BF95-42FB9B7FA239}"/>
              </a:ext>
            </a:extLst>
          </p:cNvPr>
          <p:cNvSpPr>
            <a:spLocks noGrp="1"/>
          </p:cNvSpPr>
          <p:nvPr/>
        </p:nvSpPr>
        <p:spPr>
          <a:xfrm>
            <a:off x="777240" y="2286000"/>
            <a:ext cx="420624" cy="42062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2</a:t>
            </a:r>
            <a:endParaRPr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7A8F57-02C0-4B83-AD9F-1B1FCFF5B345}"/>
              </a:ext>
            </a:extLst>
          </p:cNvPr>
          <p:cNvSpPr>
            <a:spLocks noGrp="1"/>
          </p:cNvSpPr>
          <p:nvPr/>
        </p:nvSpPr>
        <p:spPr>
          <a:xfrm>
            <a:off x="1417320" y="226771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How the model works</a:t>
            </a:r>
            <a:endParaRPr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3FA4562-1931-4D4A-88CB-58202B1E87B0}"/>
              </a:ext>
            </a:extLst>
          </p:cNvPr>
          <p:cNvSpPr>
            <a:spLocks noGrp="1"/>
          </p:cNvSpPr>
          <p:nvPr/>
        </p:nvSpPr>
        <p:spPr>
          <a:xfrm>
            <a:off x="1417320" y="257860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>
                <a:solidFill>
                  <a:srgbClr val="5F6B73"/>
                </a:solidFill>
              </a:rPr>
              <a:t>A simple explanation of the prediction</a:t>
            </a:r>
            <a:endParaRPr sz="13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087AAA-E13C-48FF-9BE7-E98B1D1A9D10}"/>
              </a:ext>
            </a:extLst>
          </p:cNvPr>
          <p:cNvSpPr>
            <a:spLocks noGrp="1"/>
          </p:cNvSpPr>
          <p:nvPr/>
        </p:nvSpPr>
        <p:spPr>
          <a:xfrm>
            <a:off x="777240" y="3090672"/>
            <a:ext cx="420624" cy="42062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3</a:t>
            </a:r>
            <a:endParaRPr sz="15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2E68C4E-DC3F-4359-B58C-B0EFA46D8ED1}"/>
              </a:ext>
            </a:extLst>
          </p:cNvPr>
          <p:cNvSpPr>
            <a:spLocks noGrp="1"/>
          </p:cNvSpPr>
          <p:nvPr/>
        </p:nvSpPr>
        <p:spPr>
          <a:xfrm>
            <a:off x="1417320" y="307238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Data journey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01499E-02B4-4187-A7B5-53157C3B92AA}"/>
              </a:ext>
            </a:extLst>
          </p:cNvPr>
          <p:cNvSpPr>
            <a:spLocks noGrp="1"/>
          </p:cNvSpPr>
          <p:nvPr/>
        </p:nvSpPr>
        <p:spPr>
          <a:xfrm>
            <a:off x="1417320" y="3383280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>
                <a:solidFill>
                  <a:srgbClr val="5F6B73"/>
                </a:solidFill>
              </a:rPr>
              <a:t>How real awards became model-ready rows</a:t>
            </a:r>
            <a:endParaRPr sz="13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1955DDC-038A-4CB4-88EE-6A47DFF50948}"/>
              </a:ext>
            </a:extLst>
          </p:cNvPr>
          <p:cNvSpPr>
            <a:spLocks noGrp="1"/>
          </p:cNvSpPr>
          <p:nvPr/>
        </p:nvSpPr>
        <p:spPr>
          <a:xfrm>
            <a:off x="777240" y="3895344"/>
            <a:ext cx="420624" cy="42062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4</a:t>
            </a:r>
            <a:endParaRPr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7CBB4F-30E5-4C1F-810C-BBF3D1FD4B76}"/>
              </a:ext>
            </a:extLst>
          </p:cNvPr>
          <p:cNvSpPr>
            <a:spLocks noGrp="1"/>
          </p:cNvSpPr>
          <p:nvPr/>
        </p:nvSpPr>
        <p:spPr>
          <a:xfrm>
            <a:off x="1417320" y="387705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Approach &amp; results</a:t>
            </a:r>
            <a:endParaRPr sz="18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A2BE9EA-746C-4BD5-A324-28FB0DBA819D}"/>
              </a:ext>
            </a:extLst>
          </p:cNvPr>
          <p:cNvSpPr>
            <a:spLocks noGrp="1"/>
          </p:cNvSpPr>
          <p:nvPr/>
        </p:nvSpPr>
        <p:spPr>
          <a:xfrm>
            <a:off x="1417320" y="4187952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>
                <a:solidFill>
                  <a:srgbClr val="5F6B73"/>
                </a:solidFill>
              </a:rPr>
              <a:t>Historical signals, model choice and final test</a:t>
            </a:r>
            <a:endParaRPr sz="13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59317F1-F786-4B5B-A243-B82613EC386C}"/>
              </a:ext>
            </a:extLst>
          </p:cNvPr>
          <p:cNvSpPr>
            <a:spLocks noGrp="1"/>
          </p:cNvSpPr>
          <p:nvPr/>
        </p:nvSpPr>
        <p:spPr>
          <a:xfrm>
            <a:off x="777240" y="4700016"/>
            <a:ext cx="420624" cy="420624"/>
          </a:xfrm>
          <a:prstGeom prst="rect">
            <a:avLst/>
          </a:prstGeom>
          <a:solidFill>
            <a:srgbClr val="1F5E8C"/>
          </a:solidFill>
          <a:ln>
            <a:solidFill>
              <a:srgbClr val="1F5E8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</a:rPr>
              <a:t>5</a:t>
            </a:r>
            <a:endParaRPr sz="15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6241DE3-8434-47AF-B147-83701D29AD40}"/>
              </a:ext>
            </a:extLst>
          </p:cNvPr>
          <p:cNvSpPr>
            <a:spLocks noGrp="1"/>
          </p:cNvSpPr>
          <p:nvPr/>
        </p:nvSpPr>
        <p:spPr>
          <a:xfrm>
            <a:off x="1417320" y="468172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App &amp; conclusion</a:t>
            </a:r>
            <a:endParaRPr sz="18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1B278C6-0537-415A-912A-31D1BAB5B3B3}"/>
              </a:ext>
            </a:extLst>
          </p:cNvPr>
          <p:cNvSpPr>
            <a:spLocks noGrp="1"/>
          </p:cNvSpPr>
          <p:nvPr/>
        </p:nvSpPr>
        <p:spPr>
          <a:xfrm>
            <a:off x="1417320" y="4992624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/>
            </a:pPr>
            <a:r>
              <a:rPr sz="1500">
                <a:solidFill>
                  <a:srgbClr val="5F6B73"/>
                </a:solidFill>
              </a:rPr>
              <a:t>Decision support, limitations and live demo</a:t>
            </a:r>
            <a:endParaRPr sz="13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2B45B35-E178-4C04-8F66-D6AAE7FDF190}"/>
              </a:ext>
            </a:extLst>
          </p:cNvPr>
          <p:cNvSpPr>
            <a:spLocks noGrp="1"/>
          </p:cNvSpPr>
          <p:nvPr/>
        </p:nvSpPr>
        <p:spPr>
          <a:xfrm>
            <a:off x="7406639" y="1588667"/>
            <a:ext cx="3713937" cy="1822045"/>
          </a:xfrm>
          <a:prstGeom prst="rect">
            <a:avLst/>
          </a:prstGeom>
          <a:solidFill>
            <a:srgbClr val="12263A"/>
          </a:solidFill>
        </p:spPr>
        <p:txBody>
          <a:bodyPr wrap="square" lIns="2794" tIns="2794" rIns="2794" bIns="2794" anchor="ctr">
            <a:normAutofit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</a:rPr>
              <a:t>The goal is not to replace commercial judgment.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</a:rPr>
              <a:t>The goal is to give bidders a better starting benchmark.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141465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46826B-6CA4-4A8D-9C5D-15BCE19C06D2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BUSINESS PROBLEM &amp; IMPACT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BD3953-698D-49A4-AF54-8873D21A3502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The pricing problem is a narrow target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8481F0-921F-46CB-9DD9-29FC265E1E58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399B7E-6911-4DF5-9154-67294DCE01A5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03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F197368-2F46-499A-8C95-F3E9F056E5AC}"/>
              </a:ext>
            </a:extLst>
          </p:cNvPr>
          <p:cNvSpPr>
            <a:spLocks noGrp="1"/>
          </p:cNvSpPr>
          <p:nvPr/>
        </p:nvSpPr>
        <p:spPr>
          <a:xfrm>
            <a:off x="777240" y="16002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300" b="1">
                <a:solidFill>
                  <a:srgbClr val="B8463A"/>
                </a:solidFill>
              </a:rPr>
              <a:t>Bid too low</a:t>
            </a:r>
            <a:endParaRPr sz="2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1309146-CAEA-4A45-A917-3C399EF5A909}"/>
              </a:ext>
            </a:extLst>
          </p:cNvPr>
          <p:cNvSpPr>
            <a:spLocks noGrp="1"/>
          </p:cNvSpPr>
          <p:nvPr/>
        </p:nvSpPr>
        <p:spPr>
          <a:xfrm>
            <a:off x="804672" y="201168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Win the contract but risk losing profit.</a:t>
            </a:r>
            <a:endParaRPr sz="15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1C8F5FB-E53D-42CB-8569-6A5FFD6D0AB7}"/>
              </a:ext>
            </a:extLst>
          </p:cNvPr>
          <p:cNvSpPr>
            <a:spLocks noGrp="1"/>
          </p:cNvSpPr>
          <p:nvPr/>
        </p:nvSpPr>
        <p:spPr>
          <a:xfrm>
            <a:off x="9144000" y="160020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300" b="1">
                <a:solidFill>
                  <a:srgbClr val="B8463A"/>
                </a:solidFill>
              </a:rPr>
              <a:t>Bid too high</a:t>
            </a:r>
            <a:endParaRPr sz="2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D368D3-99C7-4072-B153-1722324C0C1C}"/>
              </a:ext>
            </a:extLst>
          </p:cNvPr>
          <p:cNvSpPr>
            <a:spLocks noGrp="1"/>
          </p:cNvSpPr>
          <p:nvPr/>
        </p:nvSpPr>
        <p:spPr>
          <a:xfrm>
            <a:off x="9162288" y="20116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Protect margin, but lose the opportunity.</a:t>
            </a:r>
            <a:endParaRPr sz="15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CAA759B-13E7-45A7-91DF-494FF22F6D19}"/>
              </a:ext>
            </a:extLst>
          </p:cNvPr>
          <p:cNvSpPr>
            <a:spLocks noGrp="1"/>
          </p:cNvSpPr>
          <p:nvPr/>
        </p:nvSpPr>
        <p:spPr>
          <a:xfrm>
            <a:off x="1051560" y="3657600"/>
            <a:ext cx="10058400" cy="0"/>
          </a:xfrm>
          <a:prstGeom prst="line">
            <a:avLst/>
          </a:prstGeom>
          <a:noFill/>
          <a:ln w="762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CDC9EFE-4727-4B64-91E4-2969176FE41E}"/>
              </a:ext>
            </a:extLst>
          </p:cNvPr>
          <p:cNvSpPr>
            <a:spLocks noGrp="1"/>
          </p:cNvSpPr>
          <p:nvPr/>
        </p:nvSpPr>
        <p:spPr>
          <a:xfrm>
            <a:off x="4462272" y="3657600"/>
            <a:ext cx="2926080" cy="0"/>
          </a:xfrm>
          <a:prstGeom prst="line">
            <a:avLst/>
          </a:prstGeom>
          <a:noFill/>
          <a:ln w="127000">
            <a:solidFill>
              <a:srgbClr val="1E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4728B8E-12A4-486A-8A91-87427B397C8C}"/>
              </a:ext>
            </a:extLst>
          </p:cNvPr>
          <p:cNvSpPr>
            <a:spLocks noGrp="1"/>
          </p:cNvSpPr>
          <p:nvPr/>
        </p:nvSpPr>
        <p:spPr>
          <a:xfrm>
            <a:off x="4206240" y="396849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 b="1">
                <a:solidFill>
                  <a:srgbClr val="1E7A78"/>
                </a:solidFill>
              </a:rPr>
              <a:t>Competitive region</a:t>
            </a:r>
            <a:endParaRPr sz="18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91E5147-595A-45E8-83CB-6902E28D7E60}"/>
              </a:ext>
            </a:extLst>
          </p:cNvPr>
          <p:cNvSpPr>
            <a:spLocks noGrp="1"/>
          </p:cNvSpPr>
          <p:nvPr/>
        </p:nvSpPr>
        <p:spPr>
          <a:xfrm>
            <a:off x="2011680" y="4800600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300" b="1">
                <a:solidFill>
                  <a:srgbClr val="12263A"/>
                </a:solidFill>
              </a:rPr>
              <a:t>The model helps estimate this region from historical tenders with similar signals.</a:t>
            </a:r>
            <a:endParaRPr sz="2300"/>
          </a:p>
        </p:txBody>
      </p:sp>
    </p:spTree>
    <p:extLst>
      <p:ext uri="{BB962C8B-B14F-4D97-AF65-F5344CB8AC3E}">
        <p14:creationId xmlns:p14="http://schemas.microsoft.com/office/powerpoint/2010/main" val="608587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052D24-4397-484D-9859-086CD69FB835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NON-EXPERT EXPLANATION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386984-88D4-4BF3-8964-57F67B81F2CE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Tender details affect the predicted price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541EC4-B03C-4B53-9741-C019F42A0AEB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DF68E5-F437-4EAB-BB8F-6A3F55FF317D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04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BDE52D-D134-400C-91B8-72D0F7038E1F}"/>
              </a:ext>
            </a:extLst>
          </p:cNvPr>
          <p:cNvSpPr>
            <a:spLocks noGrp="1"/>
          </p:cNvSpPr>
          <p:nvPr/>
        </p:nvSpPr>
        <p:spPr>
          <a:xfrm>
            <a:off x="868680" y="1627632"/>
            <a:ext cx="219456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Who issued it?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0A9D96D-02C7-4E09-AF30-AB87A8457D1A}"/>
              </a:ext>
            </a:extLst>
          </p:cNvPr>
          <p:cNvSpPr>
            <a:spLocks noGrp="1"/>
          </p:cNvSpPr>
          <p:nvPr/>
        </p:nvSpPr>
        <p:spPr>
          <a:xfrm>
            <a:off x="3520440" y="1627632"/>
            <a:ext cx="2468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What is being bought?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6D0FCA-F9F1-46A4-8F11-41EB157AB79A}"/>
              </a:ext>
            </a:extLst>
          </p:cNvPr>
          <p:cNvSpPr>
            <a:spLocks noGrp="1"/>
          </p:cNvSpPr>
          <p:nvPr/>
        </p:nvSpPr>
        <p:spPr>
          <a:xfrm>
            <a:off x="6492240" y="1627632"/>
            <a:ext cx="2194560" cy="685800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How large is it?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212246F-F4A0-4A95-BAC6-AD57B9D4D5E3}"/>
              </a:ext>
            </a:extLst>
          </p:cNvPr>
          <p:cNvSpPr>
            <a:spLocks noGrp="1"/>
          </p:cNvSpPr>
          <p:nvPr/>
        </p:nvSpPr>
        <p:spPr>
          <a:xfrm>
            <a:off x="9098280" y="1627632"/>
            <a:ext cx="2331720" cy="685800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How long and under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what conditions?</a:t>
            </a:r>
            <a:endParaRPr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03CBDB-DBCD-4BDF-AB96-46AE8AAF8289}"/>
              </a:ext>
            </a:extLst>
          </p:cNvPr>
          <p:cNvSpPr>
            <a:spLocks noGrp="1"/>
          </p:cNvSpPr>
          <p:nvPr/>
        </p:nvSpPr>
        <p:spPr>
          <a:xfrm>
            <a:off x="1188720" y="2926080"/>
            <a:ext cx="97840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12263A"/>
                </a:solidFill>
              </a:rPr>
              <a:t>The model compares these signals with patterns found in previous tenders.</a:t>
            </a:r>
            <a:endParaRPr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D23EDD2-A13C-4403-A796-C04C0A184795}"/>
              </a:ext>
            </a:extLst>
          </p:cNvPr>
          <p:cNvSpPr>
            <a:spLocks noGrp="1"/>
          </p:cNvSpPr>
          <p:nvPr/>
        </p:nvSpPr>
        <p:spPr>
          <a:xfrm>
            <a:off x="1051560" y="3913632"/>
            <a:ext cx="10012680" cy="91440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800">
                <a:solidFill>
                  <a:srgbClr val="202020"/>
                </a:solidFill>
                <a:latin typeface="Aptos"/>
                <a:ea typeface="Aptos"/>
                <a:cs typeface="Aptos"/>
              </a:rPr>
              <a:t>It then estimates the likely winning price and gives a competitive range around that estimate.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50029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35CB9E-8568-4AD2-84F5-188E388FA32B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SOLUTION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AC82ED-7E88-4644-8ECA-D79CF835AB00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Tender details become a practical benchmark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F4A043-A20A-48F7-B9A8-6F67EA9DC4AA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5D80EF-26DF-431E-A888-772DDF548C36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05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F7E8A2D-615E-41F7-833E-73D9DEABFB20}"/>
              </a:ext>
            </a:extLst>
          </p:cNvPr>
          <p:cNvSpPr>
            <a:spLocks noGrp="1"/>
          </p:cNvSpPr>
          <p:nvPr/>
        </p:nvSpPr>
        <p:spPr>
          <a:xfrm>
            <a:off x="441961" y="1417320"/>
            <a:ext cx="2926080" cy="457200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Tender details</a:t>
            </a:r>
            <a:endParaRPr sz="1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3585A34-75A8-4A77-A53A-31012A8D0B1F}"/>
              </a:ext>
            </a:extLst>
          </p:cNvPr>
          <p:cNvSpPr>
            <a:spLocks noGrp="1"/>
          </p:cNvSpPr>
          <p:nvPr/>
        </p:nvSpPr>
        <p:spPr>
          <a:xfrm>
            <a:off x="1097280" y="2057400"/>
            <a:ext cx="2286000" cy="1645920"/>
          </a:xfrm>
          <a:prstGeom prst="rect">
            <a:avLst/>
          </a:prstGeom>
          <a:noFill/>
        </p:spPr>
        <p:txBody>
          <a:bodyPr wrap="square" lIns="508" tIns="508" rIns="508" bIns="508" anchor="ctr">
            <a:normAutofit/>
          </a:bodyPr>
          <a:lstStyle/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Authority and sector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Subject and description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Bond, fee and duration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Tender conditions</a:t>
            </a:r>
            <a:endParaRPr sz="17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B5C2CDE-7A0D-473A-888B-0F7309E96BBE}"/>
              </a:ext>
            </a:extLst>
          </p:cNvPr>
          <p:cNvSpPr>
            <a:spLocks noGrp="1"/>
          </p:cNvSpPr>
          <p:nvPr/>
        </p:nvSpPr>
        <p:spPr>
          <a:xfrm>
            <a:off x="4069080" y="2743200"/>
            <a:ext cx="114300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CBD29B-30FA-4CD7-9697-7F53CAA14229}"/>
              </a:ext>
            </a:extLst>
          </p:cNvPr>
          <p:cNvSpPr>
            <a:spLocks noGrp="1"/>
          </p:cNvSpPr>
          <p:nvPr/>
        </p:nvSpPr>
        <p:spPr>
          <a:xfrm>
            <a:off x="5349240" y="2084832"/>
            <a:ext cx="2011680" cy="1097280"/>
          </a:xfrm>
          <a:prstGeom prst="rect">
            <a:avLst/>
          </a:prstGeom>
          <a:solidFill>
            <a:srgbClr val="E9F5EF"/>
          </a:solidFill>
          <a:ln w="12700">
            <a:solidFill>
              <a:srgbClr val="E9F5E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LightGBM model</a:t>
            </a:r>
            <a:endParaRPr sz="2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D0CCC0A-866C-4C8E-8345-6F520D0FA921}"/>
              </a:ext>
            </a:extLst>
          </p:cNvPr>
          <p:cNvSpPr>
            <a:spLocks noGrp="1"/>
          </p:cNvSpPr>
          <p:nvPr/>
        </p:nvSpPr>
        <p:spPr>
          <a:xfrm>
            <a:off x="7543800" y="2743200"/>
            <a:ext cx="114300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00444C8-D5B0-47C8-B269-E24AC59468B4}"/>
              </a:ext>
            </a:extLst>
          </p:cNvPr>
          <p:cNvSpPr>
            <a:spLocks noGrp="1"/>
          </p:cNvSpPr>
          <p:nvPr/>
        </p:nvSpPr>
        <p:spPr>
          <a:xfrm>
            <a:off x="8823960" y="1417320"/>
            <a:ext cx="2560320" cy="457200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Decision support</a:t>
            </a:r>
            <a:endParaRPr sz="18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A451B12-F407-4064-BCB1-B2BE1826B8B9}"/>
              </a:ext>
            </a:extLst>
          </p:cNvPr>
          <p:cNvSpPr>
            <a:spLocks noGrp="1"/>
          </p:cNvSpPr>
          <p:nvPr/>
        </p:nvSpPr>
        <p:spPr>
          <a:xfrm>
            <a:off x="9052560" y="2057400"/>
            <a:ext cx="2057400" cy="1280160"/>
          </a:xfrm>
          <a:prstGeom prst="rect">
            <a:avLst/>
          </a:prstGeom>
          <a:noFill/>
        </p:spPr>
        <p:txBody>
          <a:bodyPr wrap="square" lIns="508" tIns="508" rIns="508" bIns="508" anchor="ctr">
            <a:normAutofit fontScale="97268"/>
          </a:bodyPr>
          <a:lstStyle/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Point estimate in BHD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Calibrated 80% range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Input-quality check</a:t>
            </a:r>
            <a:endParaRPr sz="1700"/>
          </a:p>
          <a:p>
            <a:pPr marL="0" indent="0">
              <a:buNone/>
            </a:pPr>
            <a:r>
              <a:rPr sz="1700">
                <a:solidFill>
                  <a:srgbClr val="202020"/>
                </a:solidFill>
              </a:rPr>
              <a:t>Similar tenders on demand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66505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790282-C788-44C3-B01B-F44DAD1204BC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DATA &amp; SOURCES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5D7C1D-038B-4503-BF29-237B5314FD6C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Award reports became a reliable history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6326D8-177D-4933-BCF2-134834F7041C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3F981B-EC08-4F20-B03D-FEB1B3FCF011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06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4FD1F88-7BF3-4CBE-8FFD-C68F46A5CE38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2011680" cy="658368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20,131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extracted award rows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BCC336-6552-484A-89DD-2F217FC42D1B}"/>
              </a:ext>
            </a:extLst>
          </p:cNvPr>
          <p:cNvSpPr>
            <a:spLocks noGrp="1"/>
          </p:cNvSpPr>
          <p:nvPr/>
        </p:nvSpPr>
        <p:spPr>
          <a:xfrm>
            <a:off x="3063240" y="1325880"/>
            <a:ext cx="2011680" cy="658368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8,847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clean award rows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57BC37-6644-45E5-9519-652104697B59}"/>
              </a:ext>
            </a:extLst>
          </p:cNvPr>
          <p:cNvSpPr>
            <a:spLocks noGrp="1"/>
          </p:cNvSpPr>
          <p:nvPr/>
        </p:nvSpPr>
        <p:spPr>
          <a:xfrm>
            <a:off x="5349240" y="1325880"/>
            <a:ext cx="2011680" cy="658368"/>
          </a:xfrm>
          <a:prstGeom prst="rect">
            <a:avLst/>
          </a:prstGeom>
          <a:solidFill>
            <a:srgbClr val="E9F5EF"/>
          </a:solidFill>
          <a:ln>
            <a:solidFill>
              <a:srgbClr val="E9F5EF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2016–2025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covered years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A8292E-4321-4DC2-B9F7-DE06AD5B4CFB}"/>
              </a:ext>
            </a:extLst>
          </p:cNvPr>
          <p:cNvSpPr>
            <a:spLocks noGrp="1"/>
          </p:cNvSpPr>
          <p:nvPr/>
        </p:nvSpPr>
        <p:spPr>
          <a:xfrm>
            <a:off x="7635240" y="1325880"/>
            <a:ext cx="2011680" cy="658368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One row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per awarded tender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E49F33A-DAF6-464E-9DE5-BFC6D04EDAC4}"/>
              </a:ext>
            </a:extLst>
          </p:cNvPr>
          <p:cNvSpPr>
            <a:spLocks noGrp="1"/>
          </p:cNvSpPr>
          <p:nvPr/>
        </p:nvSpPr>
        <p:spPr>
          <a:xfrm>
            <a:off x="960120" y="2880360"/>
            <a:ext cx="2514600" cy="82296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Award reports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Reference, authority,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subject and award</a:t>
            </a:r>
            <a:endParaRPr sz="15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44EB304-17BC-4B5E-853E-EEAE9EDF049C}"/>
              </a:ext>
            </a:extLst>
          </p:cNvPr>
          <p:cNvSpPr>
            <a:spLocks noGrp="1"/>
          </p:cNvSpPr>
          <p:nvPr/>
        </p:nvSpPr>
        <p:spPr>
          <a:xfrm>
            <a:off x="3611880" y="3291840"/>
            <a:ext cx="96012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FF67BA0-9C5F-4D22-A2C0-80CE0C7592D3}"/>
              </a:ext>
            </a:extLst>
          </p:cNvPr>
          <p:cNvSpPr>
            <a:spLocks noGrp="1"/>
          </p:cNvSpPr>
          <p:nvPr/>
        </p:nvSpPr>
        <p:spPr>
          <a:xfrm>
            <a:off x="4709160" y="2880360"/>
            <a:ext cx="2514600" cy="82296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Cleaning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Valid prices and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duplicate checks</a:t>
            </a:r>
            <a:endParaRPr sz="15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3845BEA-7AA1-4F6C-B419-7C9AD5E64ECA}"/>
              </a:ext>
            </a:extLst>
          </p:cNvPr>
          <p:cNvSpPr>
            <a:spLocks noGrp="1"/>
          </p:cNvSpPr>
          <p:nvPr/>
        </p:nvSpPr>
        <p:spPr>
          <a:xfrm>
            <a:off x="7360920" y="3291840"/>
            <a:ext cx="96012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0F493EB-A5D1-4A78-8BEE-504A51BCCD61}"/>
              </a:ext>
            </a:extLst>
          </p:cNvPr>
          <p:cNvSpPr>
            <a:spLocks noGrp="1"/>
          </p:cNvSpPr>
          <p:nvPr/>
        </p:nvSpPr>
        <p:spPr>
          <a:xfrm>
            <a:off x="8458200" y="2880360"/>
            <a:ext cx="2697480" cy="82296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Historical base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Reliable awards for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pricing context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D182B4-E43F-4E1B-A827-60B4C8AFB0E6}"/>
              </a:ext>
            </a:extLst>
          </p:cNvPr>
          <p:cNvSpPr>
            <a:spLocks noGrp="1"/>
          </p:cNvSpPr>
          <p:nvPr/>
        </p:nvSpPr>
        <p:spPr>
          <a:xfrm>
            <a:off x="1143000" y="495604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B8463A"/>
                </a:solidFill>
              </a:rPr>
              <a:t>The result is a broad award history used for historical pricing signals and comparisons.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333435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790282-C788-44C3-B01B-F44DAD1204BC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DATA &amp; SOURCES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5D7C1D-038B-4503-BF29-237B5314FD6C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Archive matching produced 1,899 enriched tenders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6326D8-177D-4933-BCF2-134834F7041C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3F981B-EC08-4F20-B03D-FEB1B3FCF011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07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4FD1F88-7BF3-4CBE-8FFD-C68F46A5CE38}"/>
              </a:ext>
            </a:extLst>
          </p:cNvPr>
          <p:cNvSpPr>
            <a:spLocks noGrp="1"/>
          </p:cNvSpPr>
          <p:nvPr/>
        </p:nvSpPr>
        <p:spPr>
          <a:xfrm>
            <a:off x="777240" y="1325880"/>
            <a:ext cx="2011680" cy="658368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20,131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award rows reviewed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BCC336-6552-484A-89DD-2F217FC42D1B}"/>
              </a:ext>
            </a:extLst>
          </p:cNvPr>
          <p:cNvSpPr>
            <a:spLocks noGrp="1"/>
          </p:cNvSpPr>
          <p:nvPr/>
        </p:nvSpPr>
        <p:spPr>
          <a:xfrm>
            <a:off x="3063240" y="1325880"/>
            <a:ext cx="2011680" cy="658368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8,847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clean award history</a:t>
            </a:r>
            <a:endParaRPr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57BC37-6644-45E5-9519-652104697B59}"/>
              </a:ext>
            </a:extLst>
          </p:cNvPr>
          <p:cNvSpPr>
            <a:spLocks noGrp="1"/>
          </p:cNvSpPr>
          <p:nvPr/>
        </p:nvSpPr>
        <p:spPr>
          <a:xfrm>
            <a:off x="5349240" y="1325880"/>
            <a:ext cx="2011680" cy="658368"/>
          </a:xfrm>
          <a:prstGeom prst="rect">
            <a:avLst/>
          </a:prstGeom>
          <a:solidFill>
            <a:srgbClr val="E9F5EF"/>
          </a:solidFill>
          <a:ln>
            <a:solidFill>
              <a:srgbClr val="E9F5EF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1,899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matched and enriched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A8292E-4321-4DC2-B9F7-DE06AD5B4CFB}"/>
              </a:ext>
            </a:extLst>
          </p:cNvPr>
          <p:cNvSpPr>
            <a:spLocks noGrp="1"/>
          </p:cNvSpPr>
          <p:nvPr/>
        </p:nvSpPr>
        <p:spPr>
          <a:xfrm>
            <a:off x="7635240" y="1325880"/>
            <a:ext cx="2011680" cy="658368"/>
          </a:xfrm>
          <a:prstGeom prst="rect">
            <a:avLst/>
          </a:prstGeom>
          <a:solidFill>
            <a:srgbClr val="FFF2DF"/>
          </a:solidFill>
          <a:ln>
            <a:solidFill>
              <a:srgbClr val="FFF2DF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1,893</a:t>
            </a:r>
            <a:endParaRPr sz="1200"/>
          </a:p>
          <a:p>
            <a:pPr marL="0" indent="0" algn="ctr">
              <a:buNone/>
              <a:defRPr sz="1500"/>
            </a:pPr>
            <a:r>
              <a:rPr sz="1500">
                <a:solidFill>
                  <a:srgbClr val="202020"/>
                </a:solidFill>
              </a:rPr>
              <a:t>final modeling rows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E49F33A-DAF6-464E-9DE5-BFC6D04EDAC4}"/>
              </a:ext>
            </a:extLst>
          </p:cNvPr>
          <p:cNvSpPr>
            <a:spLocks noGrp="1"/>
          </p:cNvSpPr>
          <p:nvPr/>
        </p:nvSpPr>
        <p:spPr>
          <a:xfrm>
            <a:off x="960120" y="2880360"/>
            <a:ext cx="2514600" cy="82296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Reference matching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Exact normalized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reference numbers</a:t>
            </a:r>
            <a:endParaRPr sz="15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44EB304-17BC-4B5E-853E-EEAE9EDF049C}"/>
              </a:ext>
            </a:extLst>
          </p:cNvPr>
          <p:cNvSpPr>
            <a:spLocks noGrp="1"/>
          </p:cNvSpPr>
          <p:nvPr/>
        </p:nvSpPr>
        <p:spPr>
          <a:xfrm>
            <a:off x="3611880" y="3291840"/>
            <a:ext cx="96012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FF67BA0-9C5F-4D22-A2C0-80CE0C7592D3}"/>
              </a:ext>
            </a:extLst>
          </p:cNvPr>
          <p:cNvSpPr>
            <a:spLocks noGrp="1"/>
          </p:cNvSpPr>
          <p:nvPr/>
        </p:nvSpPr>
        <p:spPr>
          <a:xfrm>
            <a:off x="4709160" y="2880360"/>
            <a:ext cx="2514600" cy="82296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Archive enrichment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Description, bond,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duration and dates</a:t>
            </a:r>
            <a:endParaRPr sz="15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3845BEA-7AA1-4F6C-B419-7C9AD5E64ECA}"/>
              </a:ext>
            </a:extLst>
          </p:cNvPr>
          <p:cNvSpPr>
            <a:spLocks noGrp="1"/>
          </p:cNvSpPr>
          <p:nvPr/>
        </p:nvSpPr>
        <p:spPr>
          <a:xfrm>
            <a:off x="7360920" y="3291840"/>
            <a:ext cx="960120" cy="0"/>
          </a:xfrm>
          <a:prstGeom prst="line">
            <a:avLst/>
          </a:prstGeom>
          <a:noFill/>
          <a:ln w="26670">
            <a:solidFill>
              <a:srgbClr val="D982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0F493EB-A5D1-4A78-8BEE-504A51BCCD61}"/>
              </a:ext>
            </a:extLst>
          </p:cNvPr>
          <p:cNvSpPr>
            <a:spLocks noGrp="1"/>
          </p:cNvSpPr>
          <p:nvPr/>
        </p:nvSpPr>
        <p:spPr>
          <a:xfrm>
            <a:off x="8458200" y="2880360"/>
            <a:ext cx="2697480" cy="822960"/>
          </a:xfrm>
          <a:prstGeom prst="rect">
            <a:avLst/>
          </a:prstGeom>
          <a:solidFill>
            <a:srgbClr val="F6F7F9"/>
          </a:solidFill>
          <a:ln w="12700">
            <a:solidFill>
              <a:srgbClr val="D9DEE3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Final checks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6 suspicious price</a:t>
            </a:r>
            <a:endParaRPr sz="1500"/>
          </a:p>
          <a:p>
            <a:pPr marL="0" indent="0" algn="ctr">
              <a:buNone/>
            </a:pPr>
            <a:r>
              <a:rPr sz="15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rows removed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4D182B4-E43F-4E1B-A827-60B4C8AFB0E6}"/>
              </a:ext>
            </a:extLst>
          </p:cNvPr>
          <p:cNvSpPr>
            <a:spLocks noGrp="1"/>
          </p:cNvSpPr>
          <p:nvPr/>
        </p:nvSpPr>
        <p:spPr>
          <a:xfrm>
            <a:off x="1143000" y="4956048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B8463A"/>
                </a:solidFill>
              </a:rPr>
              <a:t>Every enriched row came from a real matched archive tender; only pre-bid fields became model inputs.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333435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6A18A4-2A74-4D58-AD52-ADAED2BA9283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APPROACH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DBFB8D-A657-4D74-942C-F8322D071633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Older awards strengthen enriched tender rows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7B8E7C-59B5-4B08-B7FF-59C1C7A5E7E4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EDDA17-DD2D-4661-A5C4-AEA0DA039D20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08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51254C0-9840-43F5-AD10-069D623EA2DC}"/>
              </a:ext>
            </a:extLst>
          </p:cNvPr>
          <p:cNvSpPr>
            <a:spLocks noGrp="1"/>
          </p:cNvSpPr>
          <p:nvPr/>
        </p:nvSpPr>
        <p:spPr>
          <a:xfrm>
            <a:off x="914400" y="1508760"/>
            <a:ext cx="4206240" cy="658368"/>
          </a:xfrm>
          <a:prstGeom prst="rect">
            <a:avLst/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524" tIns="1524" rIns="1524" bIns="1524" anchor="ctr">
            <a:normAutofit lnSpcReduction="10000"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Historical awards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2016 onward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8BCBF9-B651-4B71-B5FB-9A9E22C380F2}"/>
              </a:ext>
            </a:extLst>
          </p:cNvPr>
          <p:cNvSpPr>
            <a:spLocks noGrp="1"/>
          </p:cNvSpPr>
          <p:nvPr/>
        </p:nvSpPr>
        <p:spPr>
          <a:xfrm>
            <a:off x="1078992" y="2423160"/>
            <a:ext cx="3886200" cy="160020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Supply broad context:</a:t>
            </a: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issuing authority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sector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tender subject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awarded price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7F6910-E871-4CBA-B6BC-70E52D207D7A}"/>
              </a:ext>
            </a:extLst>
          </p:cNvPr>
          <p:cNvSpPr>
            <a:spLocks noGrp="1"/>
          </p:cNvSpPr>
          <p:nvPr/>
        </p:nvSpPr>
        <p:spPr>
          <a:xfrm>
            <a:off x="6903720" y="1508760"/>
            <a:ext cx="4206240" cy="658368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 lnSpcReduction="10000"/>
          </a:bodyPr>
          <a:lstStyle/>
          <a:p>
            <a:pPr marL="0" indent="0" algn="ctr">
              <a:buNone/>
            </a:pPr>
            <a:r>
              <a:rPr sz="22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Enriched tenders</a:t>
            </a:r>
            <a:endParaRPr sz="2200"/>
          </a:p>
          <a:p>
            <a:pPr marL="0" indent="0" algn="ctr">
              <a:buNone/>
            </a:pPr>
            <a:r>
              <a:rPr sz="22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2021–2025</a:t>
            </a:r>
            <a:endParaRPr sz="2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945A5C-F475-474D-ACE5-28379DFF4F28}"/>
              </a:ext>
            </a:extLst>
          </p:cNvPr>
          <p:cNvSpPr>
            <a:spLocks noGrp="1"/>
          </p:cNvSpPr>
          <p:nvPr/>
        </p:nvSpPr>
        <p:spPr>
          <a:xfrm>
            <a:off x="7059168" y="2423160"/>
            <a:ext cx="3886200" cy="1691640"/>
          </a:xfrm>
          <a:prstGeom prst="rect">
            <a:avLst/>
          </a:prstGeom>
          <a:noFill/>
        </p:spPr>
        <p:txBody>
          <a:bodyPr wrap="square" lIns="635" tIns="635" rIns="635" bIns="635" anchor="ctr">
            <a:normAutofit/>
          </a:bodyPr>
          <a:lstStyle/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Add detailed inputs:</a:t>
            </a:r>
            <a:endParaRPr sz="1600"/>
          </a:p>
          <a:p>
            <a:pPr marL="0" indent="0">
              <a:buNone/>
            </a:pP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description and scope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initial bond and fee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contract duration</a:t>
            </a:r>
            <a:endParaRPr sz="1600"/>
          </a:p>
          <a:p>
            <a:pPr marL="0" indent="0">
              <a:buNone/>
            </a:pPr>
            <a:r>
              <a:rPr sz="1600">
                <a:solidFill>
                  <a:srgbClr val="202020"/>
                </a:solidFill>
              </a:rPr>
              <a:t>• tender conditions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5F6697A-7C62-4592-9555-9C306A2BA00E}"/>
              </a:ext>
            </a:extLst>
          </p:cNvPr>
          <p:cNvSpPr>
            <a:spLocks noGrp="1"/>
          </p:cNvSpPr>
          <p:nvPr/>
        </p:nvSpPr>
        <p:spPr>
          <a:xfrm>
            <a:off x="2103120" y="5074920"/>
            <a:ext cx="795528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100" b="1">
                <a:solidFill>
                  <a:srgbClr val="12263A"/>
                </a:solidFill>
              </a:rPr>
              <a:t>For each enriched tender, older awards create a Ridge estimate and a similar-tender price. Both become extra inputs to the final LightGBM model.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684509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0A4957-6ED5-42FA-B63E-543D7ABF94F7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EVALUATION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CBC233-DB3A-4B09-9CF8-7F90394A6188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LightGBM had the lowest validation error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E818DD-EFEE-4946-B05A-A314D09B445E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0A8E6E-2DF9-421F-AD84-8CCF9C4574E8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09</a:t>
            </a:r>
            <a:endParaRPr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C989DFA-5154-44AD-B3C7-B7A5AA6DB081}"/>
              </a:ext>
            </a:extLst>
          </p:cNvPr>
          <p:cNvSpPr>
            <a:spLocks noGrp="1"/>
          </p:cNvSpPr>
          <p:nvPr/>
        </p:nvSpPr>
        <p:spPr>
          <a:xfrm>
            <a:off x="1051560" y="1428750"/>
            <a:ext cx="4953000" cy="2857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12263A"/>
                </a:solidFill>
              </a:rPr>
              <a:t>Median percentage error · 2024 validation</a:t>
            </a:r>
            <a:endParaRPr sz="18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07D474-ACD0-4804-9AEC-B7FD65523D6E}"/>
              </a:ext>
            </a:extLst>
          </p:cNvPr>
          <p:cNvSpPr>
            <a:spLocks noGrp="1"/>
          </p:cNvSpPr>
          <p:nvPr/>
        </p:nvSpPr>
        <p:spPr>
          <a:xfrm>
            <a:off x="1452563" y="2286000"/>
            <a:ext cx="1476375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b="0">
                <a:solidFill>
                  <a:srgbClr val="44515C"/>
                </a:solidFill>
              </a:defRPr>
            </a:pPr>
            <a:r>
              <a:rPr sz="1200" b="0">
                <a:solidFill>
                  <a:srgbClr val="44515C"/>
                </a:solidFill>
              </a:rPr>
              <a:t>Ridge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DE06608-28D5-4841-9A5B-C7D7F0300225}"/>
              </a:ext>
            </a:extLst>
          </p:cNvPr>
          <p:cNvSpPr>
            <a:spLocks noGrp="1"/>
          </p:cNvSpPr>
          <p:nvPr/>
        </p:nvSpPr>
        <p:spPr>
          <a:xfrm>
            <a:off x="2381250" y="2286000"/>
            <a:ext cx="3810000" cy="274320"/>
          </a:xfrm>
          <a:prstGeom prst="rect">
            <a:avLst/>
          </a:prstGeom>
          <a:solidFill>
            <a:srgbClr val="B9C3CC"/>
          </a:solidFill>
          <a:ln w="9525">
            <a:solidFill>
              <a:srgbClr val="B9C3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A9A05D8-FBC3-4B56-B495-076BB971DB8A}"/>
              </a:ext>
            </a:extLst>
          </p:cNvPr>
          <p:cNvSpPr>
            <a:spLocks noGrp="1"/>
          </p:cNvSpPr>
          <p:nvPr/>
        </p:nvSpPr>
        <p:spPr>
          <a:xfrm>
            <a:off x="6381750" y="2228850"/>
            <a:ext cx="781050" cy="257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>
                <a:solidFill>
                  <a:srgbClr val="44515C"/>
                </a:solidFill>
              </a:defRPr>
            </a:pPr>
            <a:r>
              <a:rPr sz="1500" b="1">
                <a:solidFill>
                  <a:srgbClr val="44515C"/>
                </a:solidFill>
              </a:rPr>
              <a:t>39.5%</a:t>
            </a:r>
            <a:endParaRPr sz="13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54D5D1-8424-44EB-BCC7-0930CA4310E4}"/>
              </a:ext>
            </a:extLst>
          </p:cNvPr>
          <p:cNvSpPr>
            <a:spLocks noGrp="1"/>
          </p:cNvSpPr>
          <p:nvPr/>
        </p:nvSpPr>
        <p:spPr>
          <a:xfrm>
            <a:off x="1285024" y="4594860"/>
            <a:ext cx="1476375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b="1">
                <a:solidFill>
                  <a:srgbClr val="20877D"/>
                </a:solidFill>
              </a:defRPr>
            </a:pPr>
            <a:r>
              <a:rPr sz="1200" b="1">
                <a:solidFill>
                  <a:srgbClr val="20877D"/>
                </a:solidFill>
              </a:rPr>
              <a:t>LightGBM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9F71162-11F8-4477-A554-3F1C24CA0488}"/>
              </a:ext>
            </a:extLst>
          </p:cNvPr>
          <p:cNvSpPr>
            <a:spLocks noGrp="1"/>
          </p:cNvSpPr>
          <p:nvPr/>
        </p:nvSpPr>
        <p:spPr>
          <a:xfrm>
            <a:off x="2381250" y="4572000"/>
            <a:ext cx="2333625" cy="274320"/>
          </a:xfrm>
          <a:prstGeom prst="rect">
            <a:avLst/>
          </a:prstGeom>
          <a:solidFill>
            <a:srgbClr val="20877D"/>
          </a:solidFill>
          <a:ln w="9525">
            <a:solidFill>
              <a:srgbClr val="2087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2959650-40BA-49E4-9E39-402926D8A7EA}"/>
              </a:ext>
            </a:extLst>
          </p:cNvPr>
          <p:cNvSpPr>
            <a:spLocks noGrp="1"/>
          </p:cNvSpPr>
          <p:nvPr/>
        </p:nvSpPr>
        <p:spPr>
          <a:xfrm>
            <a:off x="6381750" y="4514850"/>
            <a:ext cx="781050" cy="257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>
                <a:solidFill>
                  <a:srgbClr val="20877D"/>
                </a:solidFill>
              </a:defRPr>
            </a:pPr>
            <a:r>
              <a:rPr sz="1500" b="1">
                <a:solidFill>
                  <a:srgbClr val="20877D"/>
                </a:solidFill>
              </a:rPr>
              <a:t>24.2%</a:t>
            </a:r>
            <a:endParaRPr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CE902C7-CE00-4443-8BB9-DB4AEF656F8A}"/>
              </a:ext>
            </a:extLst>
          </p:cNvPr>
          <p:cNvSpPr>
            <a:spLocks noGrp="1"/>
          </p:cNvSpPr>
          <p:nvPr/>
        </p:nvSpPr>
        <p:spPr>
          <a:xfrm>
            <a:off x="966788" y="3824778"/>
            <a:ext cx="1476375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b="0">
                <a:solidFill>
                  <a:srgbClr val="44515C"/>
                </a:solidFill>
              </a:defRPr>
            </a:pPr>
            <a:r>
              <a:rPr sz="1200" b="0">
                <a:solidFill>
                  <a:srgbClr val="44515C"/>
                </a:solidFill>
              </a:rPr>
              <a:t>Ridge + LightGBM</a:t>
            </a:r>
            <a:endParaRPr sz="1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5048367-F6BA-41CB-A3B1-2BC8454EF1CD}"/>
              </a:ext>
            </a:extLst>
          </p:cNvPr>
          <p:cNvSpPr>
            <a:spLocks noGrp="1"/>
          </p:cNvSpPr>
          <p:nvPr/>
        </p:nvSpPr>
        <p:spPr>
          <a:xfrm>
            <a:off x="2381250" y="3048000"/>
            <a:ext cx="3743325" cy="274320"/>
          </a:xfrm>
          <a:prstGeom prst="rect">
            <a:avLst/>
          </a:prstGeom>
          <a:solidFill>
            <a:srgbClr val="B9C3CC"/>
          </a:solidFill>
          <a:ln w="9525">
            <a:solidFill>
              <a:srgbClr val="B9C3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59DCD3B-0A22-4715-9FD0-355053EC7801}"/>
              </a:ext>
            </a:extLst>
          </p:cNvPr>
          <p:cNvSpPr>
            <a:spLocks noGrp="1"/>
          </p:cNvSpPr>
          <p:nvPr/>
        </p:nvSpPr>
        <p:spPr>
          <a:xfrm>
            <a:off x="6381750" y="2990850"/>
            <a:ext cx="781050" cy="257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>
                <a:solidFill>
                  <a:srgbClr val="44515C"/>
                </a:solidFill>
              </a:defRPr>
            </a:pPr>
            <a:r>
              <a:rPr sz="1500" b="1">
                <a:solidFill>
                  <a:srgbClr val="44515C"/>
                </a:solidFill>
              </a:rPr>
              <a:t>38.8%</a:t>
            </a:r>
            <a:endParaRPr sz="13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2E48768-0E2C-490B-BAC6-5136A9C4C5BC}"/>
              </a:ext>
            </a:extLst>
          </p:cNvPr>
          <p:cNvSpPr>
            <a:spLocks noGrp="1"/>
          </p:cNvSpPr>
          <p:nvPr/>
        </p:nvSpPr>
        <p:spPr>
          <a:xfrm>
            <a:off x="1051560" y="477316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12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29B137A-30F4-4BE6-A19C-D2E2EC4DF498}"/>
              </a:ext>
            </a:extLst>
          </p:cNvPr>
          <p:cNvSpPr>
            <a:spLocks noGrp="1"/>
          </p:cNvSpPr>
          <p:nvPr/>
        </p:nvSpPr>
        <p:spPr>
          <a:xfrm>
            <a:off x="2381250" y="3810000"/>
            <a:ext cx="2400300" cy="274320"/>
          </a:xfrm>
          <a:prstGeom prst="rect">
            <a:avLst/>
          </a:prstGeom>
          <a:solidFill>
            <a:srgbClr val="B9C3CC"/>
          </a:solidFill>
          <a:ln w="9525">
            <a:solidFill>
              <a:srgbClr val="B9C3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28B7651-E7A7-4378-A1BF-C975FE440189}"/>
              </a:ext>
            </a:extLst>
          </p:cNvPr>
          <p:cNvSpPr>
            <a:spLocks noGrp="1"/>
          </p:cNvSpPr>
          <p:nvPr/>
        </p:nvSpPr>
        <p:spPr>
          <a:xfrm>
            <a:off x="6381750" y="3752850"/>
            <a:ext cx="781050" cy="25717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500">
                <a:solidFill>
                  <a:srgbClr val="44515C"/>
                </a:solidFill>
              </a:defRPr>
            </a:pPr>
            <a:r>
              <a:rPr sz="1500" b="1">
                <a:solidFill>
                  <a:srgbClr val="44515C"/>
                </a:solidFill>
              </a:rPr>
              <a:t>24.9%</a:t>
            </a:r>
            <a:endParaRPr sz="13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EBF42EF-15B9-4B37-915C-BC8AB94CE52B}"/>
              </a:ext>
            </a:extLst>
          </p:cNvPr>
          <p:cNvSpPr>
            <a:spLocks noGrp="1"/>
          </p:cNvSpPr>
          <p:nvPr/>
        </p:nvSpPr>
        <p:spPr>
          <a:xfrm>
            <a:off x="7543800" y="2057400"/>
            <a:ext cx="3246120" cy="214884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</a:ln>
        </p:spPr>
        <p:txBody>
          <a:bodyPr wrap="square" lIns="1524" tIns="1524" rIns="1524" bIns="1524" anchor="ctr">
            <a:normAutofit fontScale="89839"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Percentage makes cheap and expensive tenders comparable. The median limits the effect of unusual one-off awards.</a:t>
            </a:r>
            <a:endParaRPr sz="1900"/>
          </a:p>
          <a:p>
            <a:pPr marL="0" indent="0" algn="ctr">
              <a:buNone/>
            </a:pP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2025 test</a:t>
            </a: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25.1% median percentage error across 373 unseen tenders.</a:t>
            </a:r>
            <a:endParaRPr sz="19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D26FFD-A7AE-BBF4-95EA-C3EA3B9B1176}"/>
              </a:ext>
            </a:extLst>
          </p:cNvPr>
          <p:cNvSpPr>
            <a:spLocks noGrp="1"/>
          </p:cNvSpPr>
          <p:nvPr/>
        </p:nvSpPr>
        <p:spPr>
          <a:xfrm>
            <a:off x="1205723" y="3046660"/>
            <a:ext cx="6094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b="0">
                <a:solidFill>
                  <a:srgbClr val="44515C"/>
                </a:solidFill>
              </a:defRPr>
            </a:pPr>
            <a:r>
              <a:rPr sz="1200" b="0">
                <a:solidFill>
                  <a:srgbClr val="44515C"/>
                </a:solidFill>
              </a:rPr>
              <a:t>Linear SVR</a:t>
            </a:r>
          </a:p>
        </p:txBody>
      </p:sp>
    </p:spTree>
    <p:extLst>
      <p:ext uri="{BB962C8B-B14F-4D97-AF65-F5344CB8AC3E}">
        <p14:creationId xmlns:p14="http://schemas.microsoft.com/office/powerpoint/2010/main" val="2071242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09283F-F60D-431B-9AA3-2CE6B2DAFFEC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WHAT WAS PRODUCED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06C084-9802-433F-A7A7-49BF492A4EE4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From raw awards to an interactive prediction app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AED750-3FA2-4EC0-9CEF-EB9ED161D705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F788AB-7EDE-4DE4-B92B-B23104080C01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10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28AD7C-1B77-43A3-8CE2-A6A3081B0678}"/>
              </a:ext>
            </a:extLst>
          </p:cNvPr>
          <p:cNvSpPr>
            <a:spLocks noGrp="1"/>
          </p:cNvSpPr>
          <p:nvPr/>
        </p:nvSpPr>
        <p:spPr>
          <a:xfrm>
            <a:off x="914400" y="141732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2263A"/>
                </a:solidFill>
              </a:rPr>
              <a:t>Clean historical datasets</a:t>
            </a:r>
            <a:endParaRPr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7F0A49-B284-4D80-82DA-2D5F8C2B8219}"/>
              </a:ext>
            </a:extLst>
          </p:cNvPr>
          <p:cNvSpPr>
            <a:spLocks noGrp="1"/>
          </p:cNvSpPr>
          <p:nvPr/>
        </p:nvSpPr>
        <p:spPr>
          <a:xfrm>
            <a:off x="4480560" y="144475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8,847 historical awards and 1,893 enriched modeling rows</a:t>
            </a:r>
            <a:endParaRPr sz="15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6A0C943-8635-48B0-95A7-668F819864B3}"/>
              </a:ext>
            </a:extLst>
          </p:cNvPr>
          <p:cNvSpPr>
            <a:spLocks noGrp="1"/>
          </p:cNvSpPr>
          <p:nvPr/>
        </p:nvSpPr>
        <p:spPr>
          <a:xfrm>
            <a:off x="914400" y="1984248"/>
            <a:ext cx="996696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5DFA0E-E076-4615-9293-47F33B089CB1}"/>
              </a:ext>
            </a:extLst>
          </p:cNvPr>
          <p:cNvSpPr>
            <a:spLocks noGrp="1"/>
          </p:cNvSpPr>
          <p:nvPr/>
        </p:nvSpPr>
        <p:spPr>
          <a:xfrm>
            <a:off x="914400" y="237744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2263A"/>
                </a:solidFill>
              </a:rPr>
              <a:t>Pre-bid prediction model</a:t>
            </a:r>
            <a:endParaRPr sz="2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1A654CE-6F8A-4DE3-8288-4ED23D6D8D06}"/>
              </a:ext>
            </a:extLst>
          </p:cNvPr>
          <p:cNvSpPr>
            <a:spLocks noGrp="1"/>
          </p:cNvSpPr>
          <p:nvPr/>
        </p:nvSpPr>
        <p:spPr>
          <a:xfrm>
            <a:off x="4480560" y="240487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uses tender text, published details and historical awards</a:t>
            </a:r>
            <a:endParaRPr sz="15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3FEC509-7170-4D9D-B230-50D129D21946}"/>
              </a:ext>
            </a:extLst>
          </p:cNvPr>
          <p:cNvSpPr>
            <a:spLocks noGrp="1"/>
          </p:cNvSpPr>
          <p:nvPr/>
        </p:nvSpPr>
        <p:spPr>
          <a:xfrm>
            <a:off x="914400" y="2944368"/>
            <a:ext cx="996696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98BD336-C94E-4625-BED8-4F6B96CC266F}"/>
              </a:ext>
            </a:extLst>
          </p:cNvPr>
          <p:cNvSpPr>
            <a:spLocks noGrp="1"/>
          </p:cNvSpPr>
          <p:nvPr/>
        </p:nvSpPr>
        <p:spPr>
          <a:xfrm>
            <a:off x="914400" y="333756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2263A"/>
                </a:solidFill>
              </a:rPr>
              <a:t>Chronological evaluation</a:t>
            </a:r>
            <a:endParaRPr sz="2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8767C92-1A0B-440B-957D-0F552DADC246}"/>
              </a:ext>
            </a:extLst>
          </p:cNvPr>
          <p:cNvSpPr>
            <a:spLocks noGrp="1"/>
          </p:cNvSpPr>
          <p:nvPr/>
        </p:nvSpPr>
        <p:spPr>
          <a:xfrm>
            <a:off x="4480560" y="336499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2024 model selection followed by an untouched 2025 test</a:t>
            </a:r>
            <a:endParaRPr sz="15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DE44289-4C01-47ED-AFCC-892292C814AB}"/>
              </a:ext>
            </a:extLst>
          </p:cNvPr>
          <p:cNvSpPr>
            <a:spLocks noGrp="1"/>
          </p:cNvSpPr>
          <p:nvPr/>
        </p:nvSpPr>
        <p:spPr>
          <a:xfrm>
            <a:off x="914400" y="3904488"/>
            <a:ext cx="996696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BE2D178-E0F2-495D-AC23-7F442C22ACE1}"/>
              </a:ext>
            </a:extLst>
          </p:cNvPr>
          <p:cNvSpPr>
            <a:spLocks noGrp="1"/>
          </p:cNvSpPr>
          <p:nvPr/>
        </p:nvSpPr>
        <p:spPr>
          <a:xfrm>
            <a:off x="914400" y="429768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2263A"/>
                </a:solidFill>
              </a:rPr>
              <a:t>Streamlit decision-support app</a:t>
            </a:r>
            <a:endParaRPr sz="20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D0A60C8-F6BD-4DEC-891D-7AA86D0EA59E}"/>
              </a:ext>
            </a:extLst>
          </p:cNvPr>
          <p:cNvSpPr>
            <a:spLocks noGrp="1"/>
          </p:cNvSpPr>
          <p:nvPr/>
        </p:nvSpPr>
        <p:spPr>
          <a:xfrm>
            <a:off x="4480560" y="432511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50">
                <a:solidFill>
                  <a:srgbClr val="5F6B73"/>
                </a:solidFill>
              </a:rPr>
              <a:t>estimate, 80% range, quality check and optional comparisons</a:t>
            </a:r>
            <a:endParaRPr sz="15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FF6E7C7-2BE1-4C01-B627-CF6383675589}"/>
              </a:ext>
            </a:extLst>
          </p:cNvPr>
          <p:cNvSpPr>
            <a:spLocks noGrp="1"/>
          </p:cNvSpPr>
          <p:nvPr/>
        </p:nvSpPr>
        <p:spPr>
          <a:xfrm>
            <a:off x="914400" y="4864608"/>
            <a:ext cx="996696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4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124B42-F560-47F8-AECF-C43A6EDA4755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EVALUATION HONESTY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1C7727-6181-488E-9490-43BC8EA7C56A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Limitations and risks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878DEFA-EBB2-4DE7-8908-451625745DB4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44C2B5-EE31-4461-9E88-FC47EDC7E2BF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11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8BA3A93-9FE6-49FE-9A40-404C39B9D81E}"/>
              </a:ext>
            </a:extLst>
          </p:cNvPr>
          <p:cNvSpPr>
            <a:spLocks noGrp="1"/>
          </p:cNvSpPr>
          <p:nvPr/>
        </p:nvSpPr>
        <p:spPr>
          <a:xfrm>
            <a:off x="960120" y="1463040"/>
            <a:ext cx="5669280" cy="3291840"/>
          </a:xfrm>
          <a:prstGeom prst="rect">
            <a:avLst/>
          </a:prstGeom>
          <a:noFill/>
        </p:spPr>
        <p:txBody>
          <a:bodyPr wrap="square" lIns="1016" tIns="1016" rIns="1016" bIns="1016" anchor="ctr">
            <a:normAutofit/>
          </a:bodyPr>
          <a:lstStyle/>
          <a:p>
            <a:r>
              <a:rPr sz="1800">
                <a:solidFill>
                  <a:srgbClr val="202020"/>
                </a:solidFill>
              </a:rPr>
              <a:t>• Some older tenders lack detailed archive fields.</a:t>
            </a:r>
            <a:endParaRPr sz="1800"/>
          </a:p>
          <a:p>
            <a:endParaRPr sz="1800"/>
          </a:p>
          <a:p>
            <a:r>
              <a:rPr sz="1800">
                <a:solidFill>
                  <a:srgbClr val="202020"/>
                </a:solidFill>
              </a:rPr>
              <a:t>• Market conditions and bidder strategy are not fully observable.</a:t>
            </a:r>
            <a:endParaRPr sz="1800"/>
          </a:p>
          <a:p>
            <a:endParaRPr sz="1800"/>
          </a:p>
          <a:p>
            <a:r>
              <a:rPr sz="1800">
                <a:solidFill>
                  <a:srgbClr val="202020"/>
                </a:solidFill>
              </a:rPr>
              <a:t>• One-off tenders remain harder to predict.</a:t>
            </a:r>
            <a:endParaRPr sz="1800"/>
          </a:p>
          <a:p>
            <a:endParaRPr sz="1800"/>
          </a:p>
          <a:p>
            <a:r>
              <a:rPr sz="1800">
                <a:solidFill>
                  <a:srgbClr val="202020"/>
                </a:solidFill>
              </a:rPr>
              <a:t>• Prediction ranges are benchmarks, not guarantees.</a:t>
            </a:r>
            <a:endParaRPr sz="1800"/>
          </a:p>
          <a:p>
            <a:endParaRPr sz="1800"/>
          </a:p>
          <a:p>
            <a:r>
              <a:rPr sz="1800">
                <a:solidFill>
                  <a:srgbClr val="202020"/>
                </a:solidFill>
              </a:rPr>
              <a:t>• Post-bid information must remain excluded.</a:t>
            </a:r>
            <a:endParaRPr sz="1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909E937-7BB7-4C19-A537-7A5C15ECACA6}"/>
              </a:ext>
            </a:extLst>
          </p:cNvPr>
          <p:cNvSpPr>
            <a:spLocks noGrp="1"/>
          </p:cNvSpPr>
          <p:nvPr/>
        </p:nvSpPr>
        <p:spPr>
          <a:xfrm>
            <a:off x="7086600" y="1691640"/>
            <a:ext cx="3566160" cy="2468880"/>
          </a:xfrm>
          <a:prstGeom prst="rect">
            <a:avLst/>
          </a:prstGeom>
          <a:solidFill>
            <a:srgbClr val="FFF2DF"/>
          </a:solidFill>
          <a:ln w="12700">
            <a:solidFill>
              <a:srgbClr val="FFF2DF"/>
            </a:solidFill>
          </a:ln>
        </p:spPr>
        <p:txBody>
          <a:bodyPr wrap="square" lIns="1524" tIns="1524" rIns="1524" bIns="1524" anchor="ctr">
            <a:normAutofit fontScale="79194"/>
          </a:bodyPr>
          <a:lstStyle/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Future work</a:t>
            </a:r>
            <a:endParaRPr sz="1900"/>
          </a:p>
          <a:p>
            <a:pPr marL="0" indent="0" algn="ctr">
              <a:buNone/>
            </a:pP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• Add new awards as they are published</a:t>
            </a:r>
            <a:endParaRPr sz="1900"/>
          </a:p>
          <a:p>
            <a:pPr marL="0" indent="0" algn="ctr">
              <a:buNone/>
            </a:pP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• Test category-specific models</a:t>
            </a:r>
            <a:endParaRPr sz="1900"/>
          </a:p>
          <a:p>
            <a:pPr marL="0" indent="0" algn="ctr">
              <a:buNone/>
            </a:pP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• Compare TF-IDF with embeddings</a:t>
            </a:r>
            <a:endParaRPr sz="1900"/>
          </a:p>
          <a:p>
            <a:pPr marL="0" indent="0" algn="ctr">
              <a:buNone/>
            </a:pPr>
            <a:endParaRPr sz="1900"/>
          </a:p>
          <a:p>
            <a:pPr marL="0" indent="0" algn="ctr">
              <a:buNone/>
            </a:pPr>
            <a:r>
              <a:rPr sz="1900" b="1">
                <a:solidFill>
                  <a:srgbClr val="202020"/>
                </a:solidFill>
                <a:latin typeface="Aptos"/>
                <a:ea typeface="Aptos"/>
                <a:cs typeface="Aptos"/>
              </a:rPr>
              <a:t>• Monitor accuracy and range coverage</a:t>
            </a:r>
            <a:endParaRPr sz="1900"/>
          </a:p>
        </p:txBody>
      </p:sp>
    </p:spTree>
    <p:extLst>
      <p:ext uri="{BB962C8B-B14F-4D97-AF65-F5344CB8AC3E}">
        <p14:creationId xmlns:p14="http://schemas.microsoft.com/office/powerpoint/2010/main" val="1146264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7C20FE-43FB-4771-AA2C-1801239E2E6A}"/>
              </a:ext>
            </a:extLst>
          </p:cNvPr>
          <p:cNvSpPr>
            <a:spLocks noGrp="1"/>
          </p:cNvSpPr>
          <p:nvPr/>
        </p:nvSpPr>
        <p:spPr>
          <a:xfrm>
            <a:off x="658368" y="31089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 b="1">
                <a:solidFill>
                  <a:srgbClr val="D9822B"/>
                </a:solidFill>
                <a:latin typeface="Aptos"/>
                <a:ea typeface="Aptos"/>
                <a:cs typeface="Aptos"/>
              </a:rPr>
              <a:t>CONCLUSION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EB6EB4-27F5-4FE4-8123-E1DB95455872}"/>
              </a:ext>
            </a:extLst>
          </p:cNvPr>
          <p:cNvSpPr>
            <a:spLocks noGrp="1"/>
          </p:cNvSpPr>
          <p:nvPr/>
        </p:nvSpPr>
        <p:spPr>
          <a:xfrm>
            <a:off x="621792" y="530352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4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Recommendation: use the model as a benchmark</a:t>
            </a:r>
            <a:endParaRPr sz="2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88222D1-ADAC-46CF-9A15-95A49C5A7C57}"/>
              </a:ext>
            </a:extLst>
          </p:cNvPr>
          <p:cNvSpPr>
            <a:spLocks noGrp="1"/>
          </p:cNvSpPr>
          <p:nvPr/>
        </p:nvSpPr>
        <p:spPr>
          <a:xfrm>
            <a:off x="621792" y="1024128"/>
            <a:ext cx="1092708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5CDA66-E257-4927-BA93-B6CC4EA1BE36}"/>
              </a:ext>
            </a:extLst>
          </p:cNvPr>
          <p:cNvSpPr>
            <a:spLocks noGrp="1"/>
          </p:cNvSpPr>
          <p:nvPr/>
        </p:nvSpPr>
        <p:spPr>
          <a:xfrm>
            <a:off x="11201400" y="38404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F6B73"/>
                </a:solidFill>
              </a:rPr>
              <a:t>12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1E81F6-E6CC-4411-93C2-AC45A909AA0B}"/>
              </a:ext>
            </a:extLst>
          </p:cNvPr>
          <p:cNvSpPr>
            <a:spLocks noGrp="1"/>
          </p:cNvSpPr>
          <p:nvPr/>
        </p:nvSpPr>
        <p:spPr>
          <a:xfrm>
            <a:off x="868680" y="150876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2263A"/>
                </a:solidFill>
              </a:rPr>
              <a:t>For bidders</a:t>
            </a:r>
            <a:endParaRPr sz="2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1BA4CA-ACF1-4BCD-B3F8-AB01A88A8714}"/>
              </a:ext>
            </a:extLst>
          </p:cNvPr>
          <p:cNvSpPr>
            <a:spLocks noGrp="1"/>
          </p:cNvSpPr>
          <p:nvPr/>
        </p:nvSpPr>
        <p:spPr>
          <a:xfrm>
            <a:off x="896112" y="1965960"/>
            <a:ext cx="3657600" cy="1097280"/>
          </a:xfrm>
          <a:prstGeom prst="rect">
            <a:avLst/>
          </a:prstGeom>
          <a:noFill/>
        </p:spPr>
        <p:txBody>
          <a:bodyPr wrap="square" lIns="1016" tIns="1016" rIns="1016" bIns="1016" anchor="ctr">
            <a:normAutofit/>
          </a:bodyPr>
          <a:lstStyle/>
          <a:p>
            <a:r>
              <a:rPr sz="1600">
                <a:solidFill>
                  <a:srgbClr val="202020"/>
                </a:solidFill>
              </a:rPr>
              <a:t>Compare the planned bid with the estimate and 80% range.</a:t>
            </a:r>
            <a:endParaRPr sz="1600"/>
          </a:p>
          <a:p>
            <a:r>
              <a:rPr sz="1600">
                <a:solidFill>
                  <a:srgbClr val="202020"/>
                </a:solidFill>
              </a:rPr>
              <a:t>Open similar tenders when more context is needed.</a:t>
            </a:r>
            <a:endParaRPr sz="1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3B43F5A-7379-4F35-B19C-E85733EE7045}"/>
              </a:ext>
            </a:extLst>
          </p:cNvPr>
          <p:cNvSpPr>
            <a:spLocks noGrp="1"/>
          </p:cNvSpPr>
          <p:nvPr/>
        </p:nvSpPr>
        <p:spPr>
          <a:xfrm>
            <a:off x="4572000" y="15087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2263A"/>
                </a:solidFill>
              </a:rPr>
              <a:t>For model improvement</a:t>
            </a:r>
            <a:endParaRPr sz="2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A103EA5-7316-4660-8059-08912C1EF57D}"/>
              </a:ext>
            </a:extLst>
          </p:cNvPr>
          <p:cNvSpPr>
            <a:spLocks noGrp="1"/>
          </p:cNvSpPr>
          <p:nvPr/>
        </p:nvSpPr>
        <p:spPr>
          <a:xfrm>
            <a:off x="4590288" y="1965960"/>
            <a:ext cx="3291840" cy="1097280"/>
          </a:xfrm>
          <a:prstGeom prst="rect">
            <a:avLst/>
          </a:prstGeom>
          <a:noFill/>
        </p:spPr>
        <p:txBody>
          <a:bodyPr wrap="square" lIns="1016" tIns="1016" rIns="1016" bIns="1016" anchor="ctr">
            <a:normAutofit/>
          </a:bodyPr>
          <a:lstStyle/>
          <a:p>
            <a:r>
              <a:rPr sz="1600">
                <a:solidFill>
                  <a:srgbClr val="202020"/>
                </a:solidFill>
              </a:rPr>
              <a:t>Add new awards regularly.</a:t>
            </a:r>
            <a:endParaRPr sz="1600"/>
          </a:p>
          <a:p>
            <a:r>
              <a:rPr sz="1600">
                <a:solidFill>
                  <a:srgbClr val="202020"/>
                </a:solidFill>
              </a:rPr>
              <a:t>Monitor accuracy and range coverage.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D1F8DA-D2C9-4E4B-8A70-D38B988A4B0A}"/>
              </a:ext>
            </a:extLst>
          </p:cNvPr>
          <p:cNvSpPr>
            <a:spLocks noGrp="1"/>
          </p:cNvSpPr>
          <p:nvPr/>
        </p:nvSpPr>
        <p:spPr>
          <a:xfrm>
            <a:off x="8275320" y="15087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12263A"/>
                </a:solidFill>
              </a:rPr>
              <a:t>For deployment</a:t>
            </a:r>
            <a:endParaRPr sz="2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044090C-0D68-4EB1-B091-CDD0A2F3BA6F}"/>
              </a:ext>
            </a:extLst>
          </p:cNvPr>
          <p:cNvSpPr>
            <a:spLocks noGrp="1"/>
          </p:cNvSpPr>
          <p:nvPr/>
        </p:nvSpPr>
        <p:spPr>
          <a:xfrm>
            <a:off x="8293608" y="1965960"/>
            <a:ext cx="2926080" cy="1097280"/>
          </a:xfrm>
          <a:prstGeom prst="rect">
            <a:avLst/>
          </a:prstGeom>
          <a:noFill/>
        </p:spPr>
        <p:txBody>
          <a:bodyPr wrap="square" lIns="1016" tIns="1016" rIns="1016" bIns="1016" anchor="ctr">
            <a:normAutofit/>
          </a:bodyPr>
          <a:lstStyle/>
          <a:p>
            <a:r>
              <a:rPr sz="1600">
                <a:solidFill>
                  <a:srgbClr val="202020"/>
                </a:solidFill>
              </a:rPr>
              <a:t>Use the Streamlit app as a decision-support prototype.</a:t>
            </a:r>
            <a:endParaRPr sz="1600"/>
          </a:p>
          <a:p>
            <a:r>
              <a:rPr sz="1600">
                <a:solidFill>
                  <a:srgbClr val="202020"/>
                </a:solidFill>
              </a:rPr>
              <a:t>Retrain only after validation.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AECDEDD-784E-4EF3-BEF1-83D7C5477F3A}"/>
              </a:ext>
            </a:extLst>
          </p:cNvPr>
          <p:cNvSpPr>
            <a:spLocks noGrp="1"/>
          </p:cNvSpPr>
          <p:nvPr/>
        </p:nvSpPr>
        <p:spPr>
          <a:xfrm>
            <a:off x="2377440" y="4663440"/>
            <a:ext cx="7498080" cy="86868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</a:ln>
        </p:spPr>
        <p:txBody>
          <a:bodyPr wrap="square" lIns="1524" tIns="1524" rIns="1524" bIns="1524" anchor="ctr">
            <a:normAutofit lnSpcReduction="10000"/>
          </a:bodyPr>
          <a:lstStyle/>
          <a:p>
            <a:pPr marL="0" indent="0" algn="ctr">
              <a:buNone/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model supports judgment.</a:t>
            </a:r>
            <a:endParaRPr sz="3000"/>
          </a:p>
          <a:p>
            <a:pPr marL="0" indent="0" algn="ctr">
              <a:buNone/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 does not replace it.</a:t>
            </a:r>
            <a:endParaRPr sz="3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E4258BF-966D-47F7-87FD-BB2DCE6BFA46}"/>
              </a:ext>
            </a:extLst>
          </p:cNvPr>
          <p:cNvSpPr>
            <a:spLocks noGrp="1"/>
          </p:cNvSpPr>
          <p:nvPr/>
        </p:nvSpPr>
        <p:spPr>
          <a:xfrm>
            <a:off x="4663440" y="59893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800">
                <a:solidFill>
                  <a:srgbClr val="5F6B73"/>
                </a:solidFill>
              </a:rPr>
              <a:t>Thank you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2121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1F335C-3408-4A49-A5FE-D765C1196C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7A64DBC-4EDD-4415-990F-E356758481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880360" cy="685800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4E8D2E-D642-446A-8F07-EA1195763D73}"/>
              </a:ext>
            </a:extLst>
          </p:cNvPr>
          <p:cNvSpPr>
            <a:spLocks noGrp="1"/>
          </p:cNvSpPr>
          <p:nvPr/>
        </p:nvSpPr>
        <p:spPr>
          <a:xfrm>
            <a:off x="3383280" y="1188720"/>
            <a:ext cx="6675120" cy="1600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42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Live</a:t>
            </a:r>
            <a:endParaRPr sz="4200"/>
          </a:p>
          <a:p>
            <a:pPr marL="0" indent="0">
              <a:buNone/>
            </a:pPr>
            <a:r>
              <a:rPr sz="4200" b="1">
                <a:solidFill>
                  <a:srgbClr val="12263A"/>
                </a:solidFill>
                <a:latin typeface="Aptos Display"/>
                <a:ea typeface="Aptos Display"/>
                <a:cs typeface="Aptos Display"/>
              </a:rPr>
              <a:t>Demonstration</a:t>
            </a:r>
            <a:endParaRPr sz="4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4647C0-591A-4C89-B403-AFF7E4ABB03A}"/>
              </a:ext>
            </a:extLst>
          </p:cNvPr>
          <p:cNvSpPr>
            <a:spLocks noGrp="1"/>
          </p:cNvSpPr>
          <p:nvPr/>
        </p:nvSpPr>
        <p:spPr>
          <a:xfrm>
            <a:off x="3581400" y="4069079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sz="2000">
                <a:solidFill>
                  <a:srgbClr val="1F5E8C"/>
                </a:solidFill>
                <a:hlinkClick r:id="rId3"/>
              </a:rPr>
              <a:t>https://governmenttenderbidpredictor.streamlit.app/</a:t>
            </a:r>
            <a:endParaRPr sz="2000">
              <a:solidFill>
                <a:srgbClr val="1F5E8C"/>
              </a:solidFill>
            </a:endParaRPr>
          </a:p>
          <a:p>
            <a:endParaRPr sz="2000">
              <a:solidFill>
                <a:srgbClr val="1F5E8C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365215-EB65-4381-9D6B-AE01C722ECAE}"/>
              </a:ext>
            </a:extLst>
          </p:cNvPr>
          <p:cNvSpPr>
            <a:spLocks noGrp="1"/>
          </p:cNvSpPr>
          <p:nvPr/>
        </p:nvSpPr>
        <p:spPr>
          <a:xfrm>
            <a:off x="3456432" y="5257800"/>
            <a:ext cx="530352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>
                <a:solidFill>
                  <a:srgbClr val="5F6B73"/>
                </a:solidFill>
              </a:rPr>
              <a:t>Questions will follow the demonstration</a:t>
            </a:r>
            <a:endParaRPr sz="14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611F536-252A-448E-AB1F-65996E16171B}"/>
              </a:ext>
            </a:extLst>
          </p:cNvPr>
          <p:cNvSpPr>
            <a:spLocks noGrp="1"/>
          </p:cNvSpPr>
          <p:nvPr/>
        </p:nvSpPr>
        <p:spPr>
          <a:xfrm>
            <a:off x="3429000" y="3794760"/>
            <a:ext cx="4480560" cy="0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97386D-351E-405A-B033-920D3CE36946}"/>
              </a:ext>
            </a:extLst>
          </p:cNvPr>
          <p:cNvSpPr>
            <a:spLocks noGrp="1"/>
          </p:cNvSpPr>
          <p:nvPr/>
        </p:nvSpPr>
        <p:spPr>
          <a:xfrm>
            <a:off x="475488" y="5870448"/>
            <a:ext cx="18745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endParaRPr sz="110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43E56AA-53EF-14D0-6AAC-CFF96FA702B3}"/>
              </a:ext>
            </a:extLst>
          </p:cNvPr>
          <p:cNvSpPr>
            <a:spLocks noGrp="1"/>
          </p:cNvSpPr>
          <p:nvPr/>
        </p:nvSpPr>
        <p:spPr>
          <a:xfrm>
            <a:off x="3581400" y="3124200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>
                <a:solidFill>
                  <a:srgbClr val="1F5E8C"/>
                </a:solidFill>
              </a:rPr>
              <a:t>Let’s see how the predictor evaluates a new tender.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1883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Microsoft Office PowerPoint</Application>
  <DocSecurity>0</DocSecurity>
  <PresentationFormat>Widescreen</PresentationFormat>
  <Paragraphs>192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Meshaima</cp:lastModifiedBy>
  <cp:revision>1</cp:revision>
  <dcterms:created xsi:type="dcterms:W3CDTF">2026-09-01T16:26:09Z</dcterms:created>
  <dcterms:modified xsi:type="dcterms:W3CDTF">2026-09-01T17:44:30Z</dcterms:modified>
</cp:coreProperties>
</file>